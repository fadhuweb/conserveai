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one sentence: ConserveAI forecasts conservation threats for six Nigerian parks and turns each forecast into a costed plan of what to deploy and where. It is deployed and live, and I will show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gap as three linked problems: tools predict but do not decide; threats are studied one at a time; labels are scarce here. No prior system links a multi-threat forecast to a budget-constrained, zone-level plan for a low-resource park with weak labels. That is my gap statement.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design choices, each answering a problem from the gap slide. Open data answers data access. Semi-supervised learning answers sparse labels. The integer linear program answers predict-but-do-not-decide by producing a real costed, zone-level plan. Add that it is explainable, with per-threat drivers, and delivered as a usable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Dwell here. It is a running product, not a notebook. If time allows, switch to the live site for a 15-second click-through: national map, open a park, set a budget, run the recommender, show the zone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numbers and stress that the test set is genuinely held out, not training accuracy. Explain F2 in one line. The recommender behaves correctly and fast. Every planned component is built, tested and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as deliberate, known limitations, not surprises. Asking how to handle label leakage and threat scope in the thesis shows maturity and invites useful direction.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794760"/>
            <a:ext cx="219456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48840"/>
            <a:ext cx="10515600" cy="1188720"/>
          </a:xfrm>
          <a:prstGeom prst="rect">
            <a:avLst/>
          </a:prstGeom>
          <a:noFill/>
        </p:spPr>
        <p:txBody>
          <a:bodyPr wrap="square" anchor="t">
            <a:spAutoFit/>
          </a:bodyPr>
          <a:lstStyle/>
          <a:p>
            <a:pPr>
              <a:spcAft>
                <a:spcPts val="600"/>
              </a:spcAft>
            </a:pPr>
            <a:r>
              <a:rPr sz="5400" b="1">
                <a:solidFill>
                  <a:srgbClr val="FFFFFF"/>
                </a:solidFill>
                <a:latin typeface="Calibri"/>
              </a:rPr>
              <a:t>ConserveAI</a:t>
            </a:r>
          </a:p>
        </p:txBody>
      </p:sp>
      <p:sp>
        <p:nvSpPr>
          <p:cNvPr id="5" name="TextBox 4"/>
          <p:cNvSpPr txBox="1"/>
          <p:nvPr/>
        </p:nvSpPr>
        <p:spPr>
          <a:xfrm>
            <a:off x="822960" y="3063240"/>
            <a:ext cx="10515600" cy="914400"/>
          </a:xfrm>
          <a:prstGeom prst="rect">
            <a:avLst/>
          </a:prstGeom>
          <a:noFill/>
        </p:spPr>
        <p:txBody>
          <a:bodyPr wrap="square" anchor="t">
            <a:spAutoFit/>
          </a:bodyPr>
          <a:lstStyle/>
          <a:p>
            <a:pPr>
              <a:spcAft>
                <a:spcPts val="0"/>
              </a:spcAft>
            </a:pPr>
            <a:r>
              <a:rPr sz="2200" b="0">
                <a:solidFill>
                  <a:srgbClr val="CFE4D8"/>
                </a:solidFill>
                <a:latin typeface="Calibri"/>
              </a:rPr>
              <a:t>From open satellite data to a budget-constrained conservation plan for six Nigerian national parks</a:t>
            </a:r>
          </a:p>
        </p:txBody>
      </p:sp>
      <p:sp>
        <p:nvSpPr>
          <p:cNvPr id="6" name="TextBox 5"/>
          <p:cNvSpPr txBox="1"/>
          <p:nvPr/>
        </p:nvSpPr>
        <p:spPr>
          <a:xfrm>
            <a:off x="822960" y="5212080"/>
            <a:ext cx="10515600" cy="1097280"/>
          </a:xfrm>
          <a:prstGeom prst="rect">
            <a:avLst/>
          </a:prstGeom>
          <a:noFill/>
        </p:spPr>
        <p:txBody>
          <a:bodyPr wrap="square" anchor="t">
            <a:spAutoFit/>
          </a:bodyPr>
          <a:lstStyle/>
          <a:p>
            <a:pPr>
              <a:spcAft>
                <a:spcPts val="600"/>
              </a:spcAft>
            </a:pPr>
            <a:r>
              <a:rPr sz="1600" b="0">
                <a:solidFill>
                  <a:srgbClr val="BFD5CB"/>
                </a:solidFill>
                <a:latin typeface="Calibri"/>
              </a:rPr>
              <a:t>BSc Capstone     |     Supervisor: David Neza</a:t>
            </a:r>
          </a:p>
          <a:p>
            <a:pPr>
              <a:spcAft>
                <a:spcPts val="0"/>
              </a:spcAft>
            </a:pPr>
            <a:r>
              <a:rPr sz="1600" b="1">
                <a:solidFill>
                  <a:srgbClr val="10B981"/>
                </a:solidFill>
                <a:latin typeface="Calibri"/>
              </a:rPr>
              <a:t>Live demo:  conserve-ai.vercel.app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640080"/>
          </a:xfrm>
          <a:prstGeom prst="rect">
            <a:avLst/>
          </a:prstGeom>
          <a:noFill/>
        </p:spPr>
        <p:txBody>
          <a:bodyPr wrap="square" anchor="t">
            <a:spAutoFit/>
          </a:bodyPr>
          <a:lstStyle/>
          <a:p>
            <a:pPr>
              <a:spcAft>
                <a:spcPts val="0"/>
              </a:spcAft>
            </a:pPr>
            <a:r>
              <a:rPr sz="3000" b="1">
                <a:solidFill>
                  <a:srgbClr val="FFFFFF"/>
                </a:solidFill>
                <a:latin typeface="Calibri"/>
              </a:rPr>
              <a:t>The ML gap</a:t>
            </a:r>
          </a:p>
        </p:txBody>
      </p:sp>
      <p:sp>
        <p:nvSpPr>
          <p:cNvPr id="5" name="TextBox 4"/>
          <p:cNvSpPr txBox="1"/>
          <p:nvPr/>
        </p:nvSpPr>
        <p:spPr>
          <a:xfrm>
            <a:off x="777240" y="1417320"/>
            <a:ext cx="10698480" cy="4846320"/>
          </a:xfrm>
          <a:prstGeom prst="rect">
            <a:avLst/>
          </a:prstGeom>
          <a:noFill/>
        </p:spPr>
        <p:txBody>
          <a:bodyPr wrap="square" anchor="t">
            <a:spAutoFit/>
          </a:bodyPr>
          <a:lstStyle/>
          <a:p>
            <a:pPr>
              <a:spcAft>
                <a:spcPts val="200"/>
              </a:spcAft>
            </a:pPr>
            <a:r>
              <a:t>   </a:t>
            </a:r>
            <a:r>
              <a:rPr sz="2000" b="1">
                <a:solidFill>
                  <a:srgbClr val="0F3D2E"/>
                </a:solidFill>
                <a:latin typeface="Calibri"/>
              </a:rPr>
              <a:t>Prediction without a decision.</a:t>
            </a:r>
          </a:p>
          <a:p>
            <a:pPr>
              <a:spcAft>
                <a:spcPts val="1600"/>
              </a:spcAft>
            </a:pPr>
            <a:r>
              <a:t>   </a:t>
            </a:r>
            <a:r>
              <a:rPr sz="1800" b="0">
                <a:solidFill>
                  <a:srgbClr val="162133"/>
                </a:solidFill>
                <a:latin typeface="Calibri"/>
              </a:rPr>
              <a:t>Most conservation ML produces a risk map and stops there. The manager is left with the real question: with a small budget, what do I deploy, and where?</a:t>
            </a:r>
          </a:p>
          <a:p>
            <a:pPr>
              <a:spcAft>
                <a:spcPts val="200"/>
              </a:spcAft>
            </a:pPr>
            <a:r>
              <a:t>   </a:t>
            </a:r>
            <a:r>
              <a:rPr sz="2000" b="1">
                <a:solidFill>
                  <a:srgbClr val="0F3D2E"/>
                </a:solidFill>
                <a:latin typeface="Calibri"/>
              </a:rPr>
              <a:t>Threats handled in isolation.</a:t>
            </a:r>
          </a:p>
          <a:p>
            <a:pPr>
              <a:spcAft>
                <a:spcPts val="1600"/>
              </a:spcAft>
            </a:pPr>
            <a:r>
              <a:t>   </a:t>
            </a:r>
            <a:r>
              <a:rPr sz="1800" b="0">
                <a:solidFill>
                  <a:srgbClr val="162133"/>
                </a:solidFill>
                <a:latin typeface="Calibri"/>
              </a:rPr>
              <a:t>Fire, drought and vegetation are usually modelled separately, yet a park faces all three at once and must split one budget across them.</a:t>
            </a:r>
          </a:p>
          <a:p>
            <a:pPr>
              <a:spcAft>
                <a:spcPts val="200"/>
              </a:spcAft>
            </a:pPr>
            <a:r>
              <a:t>   </a:t>
            </a:r>
            <a:r>
              <a:rPr sz="2000" b="1">
                <a:solidFill>
                  <a:srgbClr val="0F3D2E"/>
                </a:solidFill>
                <a:latin typeface="Calibri"/>
              </a:rPr>
              <a:t>Labels are sparse and weak.</a:t>
            </a:r>
          </a:p>
          <a:p>
            <a:pPr>
              <a:spcAft>
                <a:spcPts val="0"/>
              </a:spcAft>
            </a:pPr>
            <a:r>
              <a:t>   </a:t>
            </a:r>
            <a:r>
              <a:rPr sz="1800" b="0">
                <a:solidFill>
                  <a:srgbClr val="162133"/>
                </a:solidFill>
                <a:latin typeface="Calibri"/>
              </a:rPr>
              <a:t>In Nigeria, documented threat events are scarce and uneven, so ordinary supervised learning has little to train on. Most published work assumes rich labels that do not exist here.</a:t>
            </a:r>
          </a:p>
        </p:txBody>
      </p:sp>
      <p:sp>
        <p:nvSpPr>
          <p:cNvPr id="6" name="TextBox 5"/>
          <p:cNvSpPr txBox="1"/>
          <p:nvPr/>
        </p:nvSpPr>
        <p:spPr>
          <a:xfrm>
            <a:off x="10515600" y="6419088"/>
            <a:ext cx="1463040" cy="365760"/>
          </a:xfrm>
          <a:prstGeom prst="rect">
            <a:avLst/>
          </a:prstGeom>
          <a:noFill/>
        </p:spPr>
        <p:txBody>
          <a:bodyPr wrap="square" anchor="t">
            <a:spAutoFit/>
          </a:bodyPr>
          <a:lstStyle/>
          <a:p>
            <a:pPr>
              <a:spcAft>
                <a:spcPts val="0"/>
              </a:spcAft>
            </a:pPr>
            <a:r>
              <a:rPr sz="1100" b="0">
                <a:solidFill>
                  <a:srgbClr val="BFD5CB"/>
                </a:solidFill>
                <a:latin typeface="Calibri"/>
              </a:rPr>
              <a:t>ConserveAI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640080"/>
          </a:xfrm>
          <a:prstGeom prst="rect">
            <a:avLst/>
          </a:prstGeom>
          <a:noFill/>
        </p:spPr>
        <p:txBody>
          <a:bodyPr wrap="square" anchor="t">
            <a:spAutoFit/>
          </a:bodyPr>
          <a:lstStyle/>
          <a:p>
            <a:pPr>
              <a:spcAft>
                <a:spcPts val="0"/>
              </a:spcAft>
            </a:pPr>
            <a:r>
              <a:rPr sz="3000" b="1">
                <a:solidFill>
                  <a:srgbClr val="FFFFFF"/>
                </a:solidFill>
                <a:latin typeface="Calibri"/>
              </a:rPr>
              <a:t>Proposed solution</a:t>
            </a:r>
          </a:p>
        </p:txBody>
      </p:sp>
      <p:sp>
        <p:nvSpPr>
          <p:cNvPr id="5" name="TextBox 4"/>
          <p:cNvSpPr txBox="1"/>
          <p:nvPr/>
        </p:nvSpPr>
        <p:spPr>
          <a:xfrm>
            <a:off x="777240" y="1417320"/>
            <a:ext cx="10698480" cy="4846320"/>
          </a:xfrm>
          <a:prstGeom prst="rect">
            <a:avLst/>
          </a:prstGeom>
          <a:noFill/>
        </p:spPr>
        <p:txBody>
          <a:bodyPr wrap="square" anchor="t">
            <a:spAutoFit/>
          </a:bodyPr>
          <a:lstStyle/>
          <a:p>
            <a:pPr>
              <a:spcAft>
                <a:spcPts val="200"/>
              </a:spcAft>
            </a:pPr>
            <a:r>
              <a:t>   </a:t>
            </a:r>
            <a:r>
              <a:rPr sz="2000" b="1">
                <a:solidFill>
                  <a:srgbClr val="0F3D2E"/>
                </a:solidFill>
                <a:latin typeface="Calibri"/>
              </a:rPr>
              <a:t>Multi-threat forecasting from free data.</a:t>
            </a:r>
          </a:p>
          <a:p>
            <a:pPr>
              <a:spcAft>
                <a:spcPts val="1200"/>
              </a:spcAft>
            </a:pPr>
            <a:r>
              <a:t>   </a:t>
            </a:r>
            <a:r>
              <a:rPr sz="1800" b="0">
                <a:solidFill>
                  <a:srgbClr val="162133"/>
                </a:solidFill>
                <a:latin typeface="Calibri"/>
              </a:rPr>
              <a:t>One model predicts fire, drought and vegetation risk 30 days ahead per park, from satellite fire detections (FIRMS/MODIS), greenness (NDVI), and rainfall and temperature (Open-Meteo, NASA POWER). The 30-day window gives time to act.</a:t>
            </a:r>
          </a:p>
          <a:p>
            <a:pPr>
              <a:spcAft>
                <a:spcPts val="200"/>
              </a:spcAft>
            </a:pPr>
            <a:r>
              <a:t>   </a:t>
            </a:r>
            <a:r>
              <a:rPr sz="2000" b="1">
                <a:solidFill>
                  <a:srgbClr val="0F3D2E"/>
                </a:solidFill>
                <a:latin typeface="Calibri"/>
              </a:rPr>
              <a:t>Semi-supervised learning for sparse labels.</a:t>
            </a:r>
          </a:p>
          <a:p>
            <a:pPr>
              <a:spcAft>
                <a:spcPts val="1200"/>
              </a:spcAft>
            </a:pPr>
            <a:r>
              <a:t>   </a:t>
            </a:r>
            <a:r>
              <a:rPr sz="1800" b="0">
                <a:solidFill>
                  <a:srgbClr val="162133"/>
                </a:solidFill>
                <a:latin typeface="Calibri"/>
              </a:rPr>
              <a:t>A self-training Random Forest learns from the few labelled days plus a large pool of unlabelled days, raising accuracy where labels are thin.</a:t>
            </a:r>
          </a:p>
          <a:p>
            <a:pPr>
              <a:spcAft>
                <a:spcPts val="200"/>
              </a:spcAft>
            </a:pPr>
            <a:r>
              <a:t>   </a:t>
            </a:r>
            <a:r>
              <a:rPr sz="2000" b="1">
                <a:solidFill>
                  <a:srgbClr val="0F3D2E"/>
                </a:solidFill>
                <a:latin typeface="Calibri"/>
              </a:rPr>
              <a:t>Forecast coupled to the decision.</a:t>
            </a:r>
          </a:p>
          <a:p>
            <a:pPr>
              <a:spcAft>
                <a:spcPts val="0"/>
              </a:spcAft>
            </a:pPr>
            <a:r>
              <a:t>   </a:t>
            </a:r>
            <a:r>
              <a:rPr sz="1800" b="0">
                <a:solidFill>
                  <a:srgbClr val="162133"/>
                </a:solidFill>
                <a:latin typeface="Calibri"/>
              </a:rPr>
              <a:t>An integer linear program turns the forecast, a budget and an intervention catalog into the mix of actions that cuts the most risk, allocated across four zones. This coupling is what prior work leaves out.</a:t>
            </a:r>
          </a:p>
        </p:txBody>
      </p:sp>
      <p:sp>
        <p:nvSpPr>
          <p:cNvPr id="6" name="TextBox 5"/>
          <p:cNvSpPr txBox="1"/>
          <p:nvPr/>
        </p:nvSpPr>
        <p:spPr>
          <a:xfrm>
            <a:off x="10515600" y="6419088"/>
            <a:ext cx="1463040" cy="365760"/>
          </a:xfrm>
          <a:prstGeom prst="rect">
            <a:avLst/>
          </a:prstGeom>
          <a:noFill/>
        </p:spPr>
        <p:txBody>
          <a:bodyPr wrap="square" anchor="t">
            <a:spAutoFit/>
          </a:bodyPr>
          <a:lstStyle/>
          <a:p>
            <a:pPr>
              <a:spcAft>
                <a:spcPts val="0"/>
              </a:spcAft>
            </a:pPr>
            <a:r>
              <a:rPr sz="1100" b="0">
                <a:solidFill>
                  <a:srgbClr val="BFD5CB"/>
                </a:solidFill>
                <a:latin typeface="Calibri"/>
              </a:rPr>
              <a:t>ConserveAI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640080"/>
          </a:xfrm>
          <a:prstGeom prst="rect">
            <a:avLst/>
          </a:prstGeom>
          <a:noFill/>
        </p:spPr>
        <p:txBody>
          <a:bodyPr wrap="square" anchor="t">
            <a:spAutoFit/>
          </a:bodyPr>
          <a:lstStyle/>
          <a:p>
            <a:pPr>
              <a:spcAft>
                <a:spcPts val="0"/>
              </a:spcAft>
            </a:pPr>
            <a:r>
              <a:rPr sz="3000" b="1">
                <a:solidFill>
                  <a:srgbClr val="FFFFFF"/>
                </a:solidFill>
                <a:latin typeface="Calibri"/>
              </a:rPr>
              <a:t>Working prototype (live)</a:t>
            </a:r>
          </a:p>
        </p:txBody>
      </p:sp>
      <p:sp>
        <p:nvSpPr>
          <p:cNvPr id="5" name="TextBox 4"/>
          <p:cNvSpPr txBox="1"/>
          <p:nvPr/>
        </p:nvSpPr>
        <p:spPr>
          <a:xfrm>
            <a:off x="777240" y="1417320"/>
            <a:ext cx="10698480" cy="4846320"/>
          </a:xfrm>
          <a:prstGeom prst="rect">
            <a:avLst/>
          </a:prstGeom>
          <a:noFill/>
        </p:spPr>
        <p:txBody>
          <a:bodyPr wrap="square" anchor="t">
            <a:spAutoFit/>
          </a:bodyPr>
          <a:lstStyle/>
          <a:p>
            <a:pPr>
              <a:spcAft>
                <a:spcPts val="200"/>
              </a:spcAft>
            </a:pPr>
            <a:r>
              <a:t>   </a:t>
            </a:r>
            <a:r>
              <a:rPr sz="2000" b="1">
                <a:solidFill>
                  <a:srgbClr val="0F3D2E"/>
                </a:solidFill>
                <a:latin typeface="Calibri"/>
              </a:rPr>
              <a:t>Deployed end to end, not a notebook.</a:t>
            </a:r>
          </a:p>
          <a:p>
            <a:pPr>
              <a:spcAft>
                <a:spcPts val="1200"/>
              </a:spcAft>
            </a:pPr>
            <a:r>
              <a:t>   </a:t>
            </a:r>
            <a:r>
              <a:rPr sz="1800" b="0">
                <a:solidFill>
                  <a:srgbClr val="162133"/>
                </a:solidFill>
                <a:latin typeface="Calibri"/>
              </a:rPr>
              <a:t>React dashboard on Vercel, FastAPI on Fly.io, Neon Postgres, and a daily GitHub Actions cron that pulls fresh data and re-forecasts every morning.</a:t>
            </a:r>
          </a:p>
          <a:p>
            <a:pPr>
              <a:spcAft>
                <a:spcPts val="200"/>
              </a:spcAft>
            </a:pPr>
            <a:r>
              <a:t>   </a:t>
            </a:r>
            <a:r>
              <a:rPr sz="2000" b="1">
                <a:solidFill>
                  <a:srgbClr val="0F3D2E"/>
                </a:solidFill>
                <a:latin typeface="Calibri"/>
              </a:rPr>
              <a:t>What a manager sees.</a:t>
            </a:r>
          </a:p>
          <a:p>
            <a:pPr>
              <a:spcAft>
                <a:spcPts val="1200"/>
              </a:spcAft>
            </a:pPr>
            <a:r>
              <a:t>   </a:t>
            </a:r>
            <a:r>
              <a:rPr sz="1800" b="0">
                <a:solidFill>
                  <a:srgbClr val="162133"/>
                </a:solidFill>
                <a:latin typeface="Calibri"/>
              </a:rPr>
              <a:t>A national risk map of all six parks, a per-park 30-day forecast with plain-language drivers, and a planner: set a budget, get a zone-by-zone deployment plan with projected before-and-after risk.</a:t>
            </a:r>
          </a:p>
          <a:p>
            <a:pPr>
              <a:spcAft>
                <a:spcPts val="200"/>
              </a:spcAft>
            </a:pPr>
            <a:r>
              <a:t>   </a:t>
            </a:r>
            <a:r>
              <a:rPr sz="2000" b="1">
                <a:solidFill>
                  <a:srgbClr val="0F3D2E"/>
                </a:solidFill>
                <a:latin typeface="Calibri"/>
              </a:rPr>
              <a:t>Built and verified.</a:t>
            </a:r>
          </a:p>
          <a:p>
            <a:pPr>
              <a:spcAft>
                <a:spcPts val="800"/>
              </a:spcAft>
            </a:pPr>
            <a:r>
              <a:t>   </a:t>
            </a:r>
            <a:r>
              <a:rPr sz="1800" b="0">
                <a:solidFill>
                  <a:srgbClr val="162133"/>
                </a:solidFill>
                <a:latin typeface="Calibri"/>
              </a:rPr>
              <a:t>17 automated tests pass, and the live system was checked end to end: login, forecasts, recommendations.</a:t>
            </a:r>
          </a:p>
          <a:p>
            <a:pPr>
              <a:spcAft>
                <a:spcPts val="0"/>
              </a:spcAft>
            </a:pPr>
            <a:r>
              <a:rPr sz="1800" b="1">
                <a:solidFill>
                  <a:srgbClr val="10B981"/>
                </a:solidFill>
                <a:latin typeface="Calibri"/>
              </a:rPr>
              <a:t>Live:  conserve-ai.vercel.app</a:t>
            </a:r>
          </a:p>
        </p:txBody>
      </p:sp>
      <p:sp>
        <p:nvSpPr>
          <p:cNvPr id="6" name="TextBox 5"/>
          <p:cNvSpPr txBox="1"/>
          <p:nvPr/>
        </p:nvSpPr>
        <p:spPr>
          <a:xfrm>
            <a:off x="10515600" y="6419088"/>
            <a:ext cx="1463040" cy="365760"/>
          </a:xfrm>
          <a:prstGeom prst="rect">
            <a:avLst/>
          </a:prstGeom>
          <a:noFill/>
        </p:spPr>
        <p:txBody>
          <a:bodyPr wrap="square" anchor="t">
            <a:spAutoFit/>
          </a:bodyPr>
          <a:lstStyle/>
          <a:p>
            <a:pPr>
              <a:spcAft>
                <a:spcPts val="0"/>
              </a:spcAft>
            </a:pPr>
            <a:r>
              <a:rPr sz="1100" b="0">
                <a:solidFill>
                  <a:srgbClr val="BFD5CB"/>
                </a:solidFill>
                <a:latin typeface="Calibri"/>
              </a:rPr>
              <a:t>ConserveAI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640080"/>
          </a:xfrm>
          <a:prstGeom prst="rect">
            <a:avLst/>
          </a:prstGeom>
          <a:noFill/>
        </p:spPr>
        <p:txBody>
          <a:bodyPr wrap="square" anchor="t">
            <a:spAutoFit/>
          </a:bodyPr>
          <a:lstStyle/>
          <a:p>
            <a:pPr>
              <a:spcAft>
                <a:spcPts val="0"/>
              </a:spcAft>
            </a:pPr>
            <a:r>
              <a:rPr sz="3000" b="1">
                <a:solidFill>
                  <a:srgbClr val="FFFFFF"/>
                </a:solidFill>
                <a:latin typeface="Calibri"/>
              </a:rPr>
              <a:t>Current status and results</a:t>
            </a:r>
          </a:p>
        </p:txBody>
      </p:sp>
      <p:sp>
        <p:nvSpPr>
          <p:cNvPr id="5" name="TextBox 4"/>
          <p:cNvSpPr txBox="1"/>
          <p:nvPr/>
        </p:nvSpPr>
        <p:spPr>
          <a:xfrm>
            <a:off x="777240" y="1417320"/>
            <a:ext cx="10698480" cy="4846320"/>
          </a:xfrm>
          <a:prstGeom prst="rect">
            <a:avLst/>
          </a:prstGeom>
          <a:noFill/>
        </p:spPr>
        <p:txBody>
          <a:bodyPr wrap="square" anchor="t">
            <a:spAutoFit/>
          </a:bodyPr>
          <a:lstStyle/>
          <a:p>
            <a:pPr>
              <a:spcAft>
                <a:spcPts val="800"/>
              </a:spcAft>
            </a:pPr>
            <a:r>
              <a:rPr sz="1800" b="0">
                <a:solidFill>
                  <a:srgbClr val="162133"/>
                </a:solidFill>
                <a:latin typeface="Calibri"/>
              </a:rPr>
              <a:t>Forecast accuracy on a held-out 2024-2025 test set (data the model never saw):</a:t>
            </a:r>
          </a:p>
          <a:p>
            <a:pPr>
              <a:spcAft>
                <a:spcPts val="600"/>
              </a:spcAft>
            </a:pPr>
            <a:r>
              <a:t>   </a:t>
            </a:r>
            <a:r>
              <a:rPr sz="2200" b="1">
                <a:solidFill>
                  <a:srgbClr val="0F3D2E"/>
                </a:solidFill>
                <a:latin typeface="Calibri"/>
              </a:rPr>
              <a:t>Fire  F2 = 0.94        Drought  F2 = 0.89        Vegetation  F2 = 0.75</a:t>
            </a:r>
          </a:p>
          <a:p>
            <a:pPr>
              <a:spcAft>
                <a:spcPts val="1600"/>
              </a:spcAft>
            </a:pPr>
            <a:r>
              <a:t>   </a:t>
            </a:r>
            <a:r>
              <a:rPr sz="1700" b="0">
                <a:solidFill>
                  <a:srgbClr val="162133"/>
                </a:solidFill>
                <a:latin typeface="Calibri"/>
              </a:rPr>
              <a:t>F2 rewards recall, because missing a real threat costs more than a false alarm. Fire and drought are strong; vegetation is moderate.</a:t>
            </a:r>
          </a:p>
          <a:p>
            <a:pPr>
              <a:spcAft>
                <a:spcPts val="200"/>
              </a:spcAft>
            </a:pPr>
            <a:r>
              <a:t>   </a:t>
            </a:r>
            <a:r>
              <a:rPr sz="1800" b="1">
                <a:solidFill>
                  <a:srgbClr val="0F3D2E"/>
                </a:solidFill>
                <a:latin typeface="Calibri"/>
              </a:rPr>
              <a:t>Recommender.</a:t>
            </a:r>
          </a:p>
          <a:p>
            <a:pPr>
              <a:spcAft>
                <a:spcPts val="1400"/>
              </a:spcAft>
            </a:pPr>
            <a:r>
              <a:t>   </a:t>
            </a:r>
            <a:r>
              <a:rPr sz="1800" b="0">
                <a:solidFill>
                  <a:srgbClr val="162133"/>
                </a:solidFill>
                <a:latin typeface="Calibri"/>
              </a:rPr>
              <a:t>Respects the budget and per-intervention limits in every test, deploys more as the budget grows, and solves a plan in under 60 ms.</a:t>
            </a:r>
          </a:p>
          <a:p>
            <a:pPr>
              <a:spcAft>
                <a:spcPts val="0"/>
              </a:spcAft>
            </a:pPr>
            <a:r>
              <a:rPr sz="1800" b="1">
                <a:solidFill>
                  <a:srgbClr val="0F3D2E"/>
                </a:solidFill>
                <a:latin typeface="Calibri"/>
              </a:rPr>
              <a:t>Status: forecasting, recommender, web app, automated testing and deployment are all complete.</a:t>
            </a:r>
          </a:p>
        </p:txBody>
      </p:sp>
      <p:sp>
        <p:nvSpPr>
          <p:cNvPr id="6" name="TextBox 5"/>
          <p:cNvSpPr txBox="1"/>
          <p:nvPr/>
        </p:nvSpPr>
        <p:spPr>
          <a:xfrm>
            <a:off x="10515600" y="6419088"/>
            <a:ext cx="1463040" cy="365760"/>
          </a:xfrm>
          <a:prstGeom prst="rect">
            <a:avLst/>
          </a:prstGeom>
          <a:noFill/>
        </p:spPr>
        <p:txBody>
          <a:bodyPr wrap="square" anchor="t">
            <a:spAutoFit/>
          </a:bodyPr>
          <a:lstStyle/>
          <a:p>
            <a:pPr>
              <a:spcAft>
                <a:spcPts val="0"/>
              </a:spcAft>
            </a:pPr>
            <a:r>
              <a:rPr sz="1100" b="0">
                <a:solidFill>
                  <a:srgbClr val="BFD5CB"/>
                </a:solidFill>
                <a:latin typeface="Calibri"/>
              </a:rPr>
              <a:t>ConserveAI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640080"/>
          </a:xfrm>
          <a:prstGeom prst="rect">
            <a:avLst/>
          </a:prstGeom>
          <a:noFill/>
        </p:spPr>
        <p:txBody>
          <a:bodyPr wrap="square" anchor="t">
            <a:spAutoFit/>
          </a:bodyPr>
          <a:lstStyle/>
          <a:p>
            <a:pPr>
              <a:spcAft>
                <a:spcPts val="0"/>
              </a:spcAft>
            </a:pPr>
            <a:r>
              <a:rPr sz="3000" b="1">
                <a:solidFill>
                  <a:srgbClr val="FFFFFF"/>
                </a:solidFill>
                <a:latin typeface="Calibri"/>
              </a:rPr>
              <a:t>Blockers to discuss</a:t>
            </a:r>
          </a:p>
        </p:txBody>
      </p:sp>
      <p:sp>
        <p:nvSpPr>
          <p:cNvPr id="5" name="TextBox 4"/>
          <p:cNvSpPr txBox="1"/>
          <p:nvPr/>
        </p:nvSpPr>
        <p:spPr>
          <a:xfrm>
            <a:off x="777240" y="1417320"/>
            <a:ext cx="10698480" cy="4846320"/>
          </a:xfrm>
          <a:prstGeom prst="rect">
            <a:avLst/>
          </a:prstGeom>
          <a:noFill/>
        </p:spPr>
        <p:txBody>
          <a:bodyPr wrap="square" anchor="t">
            <a:spAutoFit/>
          </a:bodyPr>
          <a:lstStyle/>
          <a:p>
            <a:pPr>
              <a:spcAft>
                <a:spcPts val="200"/>
              </a:spcAft>
            </a:pPr>
            <a:r>
              <a:t>   </a:t>
            </a:r>
            <a:r>
              <a:rPr sz="2000" b="1">
                <a:solidFill>
                  <a:srgbClr val="0F3D2E"/>
                </a:solidFill>
                <a:latin typeface="Calibri"/>
              </a:rPr>
              <a:t>Label leakage.</a:t>
            </a:r>
          </a:p>
          <a:p>
            <a:pPr>
              <a:spcAft>
                <a:spcPts val="1400"/>
              </a:spcAft>
            </a:pPr>
            <a:r>
              <a:t>   </a:t>
            </a:r>
            <a:r>
              <a:rPr sz="1800" b="0">
                <a:solidFill>
                  <a:srgbClr val="162133"/>
                </a:solidFill>
                <a:latin typeface="Calibri"/>
              </a:rPr>
              <a:t>Drought and vegetation labels come from climate thresholds, so those scores are partly graded against the same kind of data the model learned from. This likely inflates them. I need an independent ground truth.</a:t>
            </a:r>
          </a:p>
          <a:p>
            <a:pPr>
              <a:spcAft>
                <a:spcPts val="200"/>
              </a:spcAft>
            </a:pPr>
            <a:r>
              <a:t>   </a:t>
            </a:r>
            <a:r>
              <a:rPr sz="2000" b="1">
                <a:solidFill>
                  <a:srgbClr val="0F3D2E"/>
                </a:solidFill>
                <a:latin typeface="Calibri"/>
              </a:rPr>
              <a:t>Threat scope is sensor-driven.</a:t>
            </a:r>
          </a:p>
          <a:p>
            <a:pPr>
              <a:spcAft>
                <a:spcPts val="1400"/>
              </a:spcAft>
            </a:pPr>
            <a:r>
              <a:t>   </a:t>
            </a:r>
            <a:r>
              <a:rPr sz="1800" b="0">
                <a:solidFill>
                  <a:srgbClr val="162133"/>
                </a:solidFill>
                <a:latin typeface="Calibri"/>
              </a:rPr>
              <a:t>The model only covers what satellites can see. The largest real threats, poaching and grazing encroachment, are not sensed and are out of scope. Widen the scope, or state this limit explicitly?</a:t>
            </a:r>
          </a:p>
          <a:p>
            <a:pPr>
              <a:spcAft>
                <a:spcPts val="200"/>
              </a:spcAft>
            </a:pPr>
            <a:r>
              <a:t>   </a:t>
            </a:r>
            <a:r>
              <a:rPr sz="2000" b="1">
                <a:solidFill>
                  <a:srgbClr val="0F3D2E"/>
                </a:solidFill>
                <a:latin typeface="Calibri"/>
              </a:rPr>
              <a:t>Unvalidated intervention parameters.</a:t>
            </a:r>
          </a:p>
          <a:p>
            <a:pPr>
              <a:spcAft>
                <a:spcPts val="0"/>
              </a:spcAft>
            </a:pPr>
            <a:r>
              <a:t>   </a:t>
            </a:r>
            <a:r>
              <a:rPr sz="1800" b="0">
                <a:solidFill>
                  <a:srgbClr val="162133"/>
                </a:solidFill>
                <a:latin typeface="Calibri"/>
              </a:rPr>
              <a:t>Intervention costs and effectiveness are literature estimates, not figures measured in these parks.</a:t>
            </a:r>
          </a:p>
        </p:txBody>
      </p:sp>
      <p:sp>
        <p:nvSpPr>
          <p:cNvPr id="6" name="TextBox 5"/>
          <p:cNvSpPr txBox="1"/>
          <p:nvPr/>
        </p:nvSpPr>
        <p:spPr>
          <a:xfrm>
            <a:off x="10515600" y="6419088"/>
            <a:ext cx="1463040" cy="365760"/>
          </a:xfrm>
          <a:prstGeom prst="rect">
            <a:avLst/>
          </a:prstGeom>
          <a:noFill/>
        </p:spPr>
        <p:txBody>
          <a:bodyPr wrap="square" anchor="t">
            <a:spAutoFit/>
          </a:bodyPr>
          <a:lstStyle/>
          <a:p>
            <a:pPr>
              <a:spcAft>
                <a:spcPts val="0"/>
              </a:spcAft>
            </a:pPr>
            <a:r>
              <a:rPr sz="1100" b="0">
                <a:solidFill>
                  <a:srgbClr val="BFD5CB"/>
                </a:solidFill>
                <a:latin typeface="Calibri"/>
              </a:rPr>
              <a:t>ConserveAI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