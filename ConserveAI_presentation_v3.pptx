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one sentence: ConserveAI forecasts conservation threats for six Nigerian parks and turns each forecast into a costed plan of what to deploy and where. It is deployed and live, and I will show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linked problems: tools predict but do not decide; threats are studied one at a time; and labels are scarce here. No prior system links a multi-threat forecast to a budget-constrained, zone-level plan for a low-resource park with weak labels. That is the gap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along the top is the core idea: open data, to a forecast, to a costed zone-level plan. Below it are the three design choices, each answering a problem from the gap slide: semi-supervised learning for sparse labels, the integer linear program that turns a forecast into a decision, and explainability through per-threat drivers.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Dwell here. This is a running product, not a notebook. If time allows, switch to the live site for a short click-through: national map, open a park, set a budget, run the recommender, and show the zone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numbers and stress that the test set is genuinely held out, not training accuracy. Explain F2 in one line. The recommender behaves correctly and fast. Every planned component is built, tested and deployed.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deliberate, known limitations, not surprises. Asking how to handle label leakage and threat scope in the thesis shows maturity and invites useful direction.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2011680"/>
            <a:ext cx="5943600" cy="5943600"/>
          </a:xfrm>
          <a:prstGeom prst="ellipse">
            <a:avLst/>
          </a:prstGeom>
          <a:solidFill>
            <a:srgbClr val="1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4206240"/>
            <a:ext cx="4114800" cy="4114800"/>
          </a:xfrm>
          <a:prstGeom prst="ellipse">
            <a:avLst/>
          </a:prstGeom>
          <a:solidFill>
            <a:srgbClr val="1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371600"/>
            <a:ext cx="1371600" cy="384048"/>
          </a:xfrm>
          <a:prstGeom prst="roundRect">
            <a:avLst/>
          </a:prstGeom>
          <a:solidFill>
            <a:srgbClr val="1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1417320"/>
            <a:ext cx="1280160" cy="320040"/>
          </a:xfrm>
          <a:prstGeom prst="rect">
            <a:avLst/>
          </a:prstGeom>
          <a:noFill/>
        </p:spPr>
        <p:txBody>
          <a:bodyPr wrap="square" anchor="t">
            <a:spAutoFit/>
          </a:bodyPr>
          <a:lstStyle/>
          <a:p>
            <a:pPr algn="l">
              <a:spcBef>
                <a:spcPts val="0"/>
              </a:spcBef>
              <a:spcAft>
                <a:spcPts val="0"/>
              </a:spcAft>
            </a:pPr>
            <a:r>
              <a:rPr sz="1100" b="1" i="0">
                <a:solidFill>
                  <a:srgbClr val="10B981"/>
                </a:solidFill>
                <a:latin typeface="Calibri"/>
              </a:rPr>
              <a:t>● LIVE</a:t>
            </a:r>
          </a:p>
        </p:txBody>
      </p:sp>
      <p:sp>
        <p:nvSpPr>
          <p:cNvPr id="7" name="TextBox 6"/>
          <p:cNvSpPr txBox="1"/>
          <p:nvPr/>
        </p:nvSpPr>
        <p:spPr>
          <a:xfrm>
            <a:off x="822960" y="2148840"/>
            <a:ext cx="10058400" cy="1188720"/>
          </a:xfrm>
          <a:prstGeom prst="rect">
            <a:avLst/>
          </a:prstGeom>
          <a:noFill/>
        </p:spPr>
        <p:txBody>
          <a:bodyPr wrap="square" anchor="t">
            <a:spAutoFit/>
          </a:bodyPr>
          <a:lstStyle/>
          <a:p>
            <a:pPr algn="l">
              <a:spcBef>
                <a:spcPts val="0"/>
              </a:spcBef>
              <a:spcAft>
                <a:spcPts val="0"/>
              </a:spcAft>
            </a:pPr>
            <a:r>
              <a:rPr sz="6000" b="1" i="0">
                <a:solidFill>
                  <a:srgbClr val="FFFFFF"/>
                </a:solidFill>
                <a:latin typeface="Calibri"/>
              </a:rPr>
              <a:t>ConserveAI</a:t>
            </a:r>
          </a:p>
        </p:txBody>
      </p:sp>
      <p:sp>
        <p:nvSpPr>
          <p:cNvPr id="8" name="Rectangle 7"/>
          <p:cNvSpPr/>
          <p:nvPr/>
        </p:nvSpPr>
        <p:spPr>
          <a:xfrm>
            <a:off x="868680" y="3246120"/>
            <a:ext cx="1463040" cy="635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520440"/>
            <a:ext cx="9875520" cy="1005840"/>
          </a:xfrm>
          <a:prstGeom prst="rect">
            <a:avLst/>
          </a:prstGeom>
          <a:noFill/>
        </p:spPr>
        <p:txBody>
          <a:bodyPr wrap="square" anchor="t">
            <a:spAutoFit/>
          </a:bodyPr>
          <a:lstStyle/>
          <a:p>
            <a:pPr algn="l">
              <a:lnSpc>
                <a:spcPct val="115000"/>
              </a:lnSpc>
              <a:spcBef>
                <a:spcPts val="0"/>
              </a:spcBef>
              <a:spcAft>
                <a:spcPts val="0"/>
              </a:spcAft>
            </a:pPr>
            <a:r>
              <a:rPr sz="2200" b="0" i="0">
                <a:solidFill>
                  <a:srgbClr val="CFE4D8"/>
                </a:solidFill>
                <a:latin typeface="Calibri"/>
              </a:rPr>
              <a:t>From open satellite data to a budget-constrained conservation plan for six Nigerian national parks</a:t>
            </a:r>
          </a:p>
        </p:txBody>
      </p:sp>
      <p:sp>
        <p:nvSpPr>
          <p:cNvPr id="10" name="TextBox 9"/>
          <p:cNvSpPr txBox="1"/>
          <p:nvPr/>
        </p:nvSpPr>
        <p:spPr>
          <a:xfrm>
            <a:off x="822960" y="5440680"/>
            <a:ext cx="10058400" cy="914400"/>
          </a:xfrm>
          <a:prstGeom prst="rect">
            <a:avLst/>
          </a:prstGeom>
          <a:noFill/>
        </p:spPr>
        <p:txBody>
          <a:bodyPr wrap="square" anchor="t">
            <a:spAutoFit/>
          </a:bodyPr>
          <a:lstStyle/>
          <a:p>
            <a:pPr algn="l">
              <a:spcBef>
                <a:spcPts val="0"/>
              </a:spcBef>
              <a:spcAft>
                <a:spcPts val="600"/>
              </a:spcAft>
            </a:pPr>
            <a:r>
              <a:rPr sz="1500" b="0" i="0">
                <a:solidFill>
                  <a:srgbClr val="A9C6B8"/>
                </a:solidFill>
                <a:latin typeface="Calibri"/>
              </a:rPr>
              <a:t>BSc Capstone     ·     Supervisor: David Neza</a:t>
            </a:r>
          </a:p>
          <a:p>
            <a:pPr algn="l">
              <a:spcBef>
                <a:spcPts val="0"/>
              </a:spcBef>
              <a:spcAft>
                <a:spcPts val="0"/>
              </a:spcAft>
            </a:pPr>
            <a:r>
              <a:rPr sz="1500" b="1" i="0">
                <a:solidFill>
                  <a:srgbClr val="10B981"/>
                </a:solidFill>
                <a:latin typeface="Calibri"/>
              </a:rPr>
              <a:t>Live demo:  conserve-ai.vercel.app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11480"/>
            <a:ext cx="10515600" cy="731520"/>
          </a:xfrm>
          <a:prstGeom prst="rect">
            <a:avLst/>
          </a:prstGeom>
          <a:noFill/>
        </p:spPr>
        <p:txBody>
          <a:bodyPr wrap="square" anchor="t">
            <a:spAutoFit/>
          </a:bodyPr>
          <a:lstStyle/>
          <a:p>
            <a:pPr algn="l">
              <a:spcBef>
                <a:spcPts val="0"/>
              </a:spcBef>
              <a:spcAft>
                <a:spcPts val="0"/>
              </a:spcAft>
            </a:pPr>
            <a:r>
              <a:rPr sz="3000" b="1" i="0">
                <a:solidFill>
                  <a:srgbClr val="0F3D2E"/>
                </a:solidFill>
                <a:latin typeface="Calibri"/>
              </a:rPr>
              <a:t>The ML gap</a:t>
            </a:r>
          </a:p>
        </p:txBody>
      </p:sp>
      <p:sp>
        <p:nvSpPr>
          <p:cNvPr id="4" name="Rectangle 3"/>
          <p:cNvSpPr/>
          <p:nvPr/>
        </p:nvSpPr>
        <p:spPr>
          <a:xfrm>
            <a:off x="594360" y="1078992"/>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607040" y="6400800"/>
            <a:ext cx="109728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2 / 6</a:t>
            </a:r>
          </a:p>
        </p:txBody>
      </p:sp>
      <p:sp>
        <p:nvSpPr>
          <p:cNvPr id="8" name="Oval 7"/>
          <p:cNvSpPr/>
          <p:nvPr/>
        </p:nvSpPr>
        <p:spPr>
          <a:xfrm>
            <a:off x="640080" y="1664208"/>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104241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Prediction stops at a risk map.</a:t>
            </a:r>
          </a:p>
          <a:p>
            <a:pPr algn="l">
              <a:lnSpc>
                <a:spcPct val="105000"/>
              </a:lnSpc>
              <a:spcBef>
                <a:spcPts val="0"/>
              </a:spcBef>
              <a:spcAft>
                <a:spcPts val="0"/>
              </a:spcAft>
            </a:pPr>
            <a:r>
              <a:rPr sz="1600" b="0" i="0">
                <a:solidFill>
                  <a:srgbClr val="1F2A37"/>
                </a:solidFill>
                <a:latin typeface="Calibri"/>
              </a:rPr>
              <a:t>Conservation models typically output a risk map and end there. They do not tell a manager what to deploy, where, or within a fixed budget.</a:t>
            </a:r>
          </a:p>
        </p:txBody>
      </p:sp>
      <p:sp>
        <p:nvSpPr>
          <p:cNvPr id="10" name="Oval 9"/>
          <p:cNvSpPr/>
          <p:nvPr/>
        </p:nvSpPr>
        <p:spPr>
          <a:xfrm>
            <a:off x="640080" y="308152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017520"/>
            <a:ext cx="104241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Threats are modelled in isolation.</a:t>
            </a:r>
          </a:p>
          <a:p>
            <a:pPr algn="l">
              <a:lnSpc>
                <a:spcPct val="105000"/>
              </a:lnSpc>
              <a:spcBef>
                <a:spcPts val="0"/>
              </a:spcBef>
              <a:spcAft>
                <a:spcPts val="0"/>
              </a:spcAft>
            </a:pPr>
            <a:r>
              <a:rPr sz="1600" b="0" i="0">
                <a:solidFill>
                  <a:srgbClr val="1F2A37"/>
                </a:solidFill>
                <a:latin typeface="Calibri"/>
              </a:rPr>
              <a:t>Fire, drought and vegetation are usually studied one at a time, although a single park faces all three and must split one budget across them.</a:t>
            </a:r>
          </a:p>
        </p:txBody>
      </p:sp>
      <p:sp>
        <p:nvSpPr>
          <p:cNvPr id="12" name="Oval 11"/>
          <p:cNvSpPr/>
          <p:nvPr/>
        </p:nvSpPr>
        <p:spPr>
          <a:xfrm>
            <a:off x="640080" y="4498848"/>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434840"/>
            <a:ext cx="104241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Labels are scarce in this region.</a:t>
            </a:r>
          </a:p>
          <a:p>
            <a:pPr algn="l">
              <a:lnSpc>
                <a:spcPct val="105000"/>
              </a:lnSpc>
              <a:spcBef>
                <a:spcPts val="0"/>
              </a:spcBef>
              <a:spcAft>
                <a:spcPts val="0"/>
              </a:spcAft>
            </a:pPr>
            <a:r>
              <a:rPr sz="1600" b="0" i="0">
                <a:solidFill>
                  <a:srgbClr val="1F2A37"/>
                </a:solidFill>
                <a:latin typeface="Calibri"/>
              </a:rPr>
              <a:t>Documented threat events in Nigerian parks are sparse and uneven, which limits conventional supervised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11480"/>
            <a:ext cx="10515600" cy="731520"/>
          </a:xfrm>
          <a:prstGeom prst="rect">
            <a:avLst/>
          </a:prstGeom>
          <a:noFill/>
        </p:spPr>
        <p:txBody>
          <a:bodyPr wrap="square" anchor="t">
            <a:spAutoFit/>
          </a:bodyPr>
          <a:lstStyle/>
          <a:p>
            <a:pPr algn="l">
              <a:spcBef>
                <a:spcPts val="0"/>
              </a:spcBef>
              <a:spcAft>
                <a:spcPts val="0"/>
              </a:spcAft>
            </a:pPr>
            <a:r>
              <a:rPr sz="3000" b="1" i="0">
                <a:solidFill>
                  <a:srgbClr val="0F3D2E"/>
                </a:solidFill>
                <a:latin typeface="Calibri"/>
              </a:rPr>
              <a:t>Proposed solution</a:t>
            </a:r>
          </a:p>
        </p:txBody>
      </p:sp>
      <p:sp>
        <p:nvSpPr>
          <p:cNvPr id="4" name="Rectangle 3"/>
          <p:cNvSpPr/>
          <p:nvPr/>
        </p:nvSpPr>
        <p:spPr>
          <a:xfrm>
            <a:off x="594360" y="1078992"/>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607040" y="6400800"/>
            <a:ext cx="109728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3 / 6</a:t>
            </a:r>
          </a:p>
        </p:txBody>
      </p:sp>
      <p:sp>
        <p:nvSpPr>
          <p:cNvPr id="8" name="Rounded Rectangle 7"/>
          <p:cNvSpPr/>
          <p:nvPr/>
        </p:nvSpPr>
        <p:spPr>
          <a:xfrm>
            <a:off x="640080" y="1463040"/>
            <a:ext cx="2468880" cy="105156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Open satellite
&amp; climate data</a:t>
            </a:r>
          </a:p>
        </p:txBody>
      </p:sp>
      <p:sp>
        <p:nvSpPr>
          <p:cNvPr id="9" name="TextBox 8"/>
          <p:cNvSpPr txBox="1"/>
          <p:nvPr/>
        </p:nvSpPr>
        <p:spPr>
          <a:xfrm>
            <a:off x="3063240" y="1737360"/>
            <a:ext cx="475488" cy="457200"/>
          </a:xfrm>
          <a:prstGeom prst="rect">
            <a:avLst/>
          </a:prstGeom>
          <a:noFill/>
        </p:spPr>
        <p:txBody>
          <a:bodyPr wrap="square" anchor="t">
            <a:spAutoFit/>
          </a:bodyPr>
          <a:lstStyle/>
          <a:p>
            <a:pPr algn="ctr">
              <a:spcBef>
                <a:spcPts val="0"/>
              </a:spcBef>
              <a:spcAft>
                <a:spcPts val="0"/>
              </a:spcAft>
            </a:pPr>
            <a:r>
              <a:rPr sz="1600" b="0" i="0">
                <a:solidFill>
                  <a:srgbClr val="10B981"/>
                </a:solidFill>
                <a:latin typeface="Calibri"/>
              </a:rPr>
              <a:t>▶</a:t>
            </a:r>
          </a:p>
        </p:txBody>
      </p:sp>
      <p:sp>
        <p:nvSpPr>
          <p:cNvPr id="10" name="Rounded Rectangle 9"/>
          <p:cNvSpPr/>
          <p:nvPr/>
        </p:nvSpPr>
        <p:spPr>
          <a:xfrm>
            <a:off x="3493008" y="1463040"/>
            <a:ext cx="2468880" cy="105156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30-day multi-
threat forecast</a:t>
            </a:r>
          </a:p>
        </p:txBody>
      </p:sp>
      <p:sp>
        <p:nvSpPr>
          <p:cNvPr id="11" name="TextBox 10"/>
          <p:cNvSpPr txBox="1"/>
          <p:nvPr/>
        </p:nvSpPr>
        <p:spPr>
          <a:xfrm>
            <a:off x="5916168" y="1737360"/>
            <a:ext cx="475488" cy="457200"/>
          </a:xfrm>
          <a:prstGeom prst="rect">
            <a:avLst/>
          </a:prstGeom>
          <a:noFill/>
        </p:spPr>
        <p:txBody>
          <a:bodyPr wrap="square" anchor="t">
            <a:spAutoFit/>
          </a:bodyPr>
          <a:lstStyle/>
          <a:p>
            <a:pPr algn="ctr">
              <a:spcBef>
                <a:spcPts val="0"/>
              </a:spcBef>
              <a:spcAft>
                <a:spcPts val="0"/>
              </a:spcAft>
            </a:pPr>
            <a:r>
              <a:rPr sz="1600" b="0" i="0">
                <a:solidFill>
                  <a:srgbClr val="10B981"/>
                </a:solidFill>
                <a:latin typeface="Calibri"/>
              </a:rPr>
              <a:t>▶</a:t>
            </a:r>
          </a:p>
        </p:txBody>
      </p:sp>
      <p:sp>
        <p:nvSpPr>
          <p:cNvPr id="12" name="Rounded Rectangle 11"/>
          <p:cNvSpPr/>
          <p:nvPr/>
        </p:nvSpPr>
        <p:spPr>
          <a:xfrm>
            <a:off x="6345936" y="1463040"/>
            <a:ext cx="2468880" cy="105156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Budget-constrained
ILP optimiser</a:t>
            </a:r>
          </a:p>
        </p:txBody>
      </p:sp>
      <p:sp>
        <p:nvSpPr>
          <p:cNvPr id="13" name="TextBox 12"/>
          <p:cNvSpPr txBox="1"/>
          <p:nvPr/>
        </p:nvSpPr>
        <p:spPr>
          <a:xfrm>
            <a:off x="8769096" y="1737360"/>
            <a:ext cx="475488" cy="457200"/>
          </a:xfrm>
          <a:prstGeom prst="rect">
            <a:avLst/>
          </a:prstGeom>
          <a:noFill/>
        </p:spPr>
        <p:txBody>
          <a:bodyPr wrap="square" anchor="t">
            <a:spAutoFit/>
          </a:bodyPr>
          <a:lstStyle/>
          <a:p>
            <a:pPr algn="ctr">
              <a:spcBef>
                <a:spcPts val="0"/>
              </a:spcBef>
              <a:spcAft>
                <a:spcPts val="0"/>
              </a:spcAft>
            </a:pPr>
            <a:r>
              <a:rPr sz="1600" b="0" i="0">
                <a:solidFill>
                  <a:srgbClr val="10B981"/>
                </a:solidFill>
                <a:latin typeface="Calibri"/>
              </a:rPr>
              <a:t>▶</a:t>
            </a:r>
          </a:p>
        </p:txBody>
      </p:sp>
      <p:sp>
        <p:nvSpPr>
          <p:cNvPr id="14" name="Rounded Rectangle 13"/>
          <p:cNvSpPr/>
          <p:nvPr/>
        </p:nvSpPr>
        <p:spPr>
          <a:xfrm>
            <a:off x="9198864" y="1463040"/>
            <a:ext cx="2468880" cy="105156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Zone-level
action plan</a:t>
            </a:r>
          </a:p>
        </p:txBody>
      </p:sp>
      <p:sp>
        <p:nvSpPr>
          <p:cNvPr id="15" name="TextBox 14"/>
          <p:cNvSpPr txBox="1"/>
          <p:nvPr/>
        </p:nvSpPr>
        <p:spPr>
          <a:xfrm>
            <a:off x="658368" y="2926080"/>
            <a:ext cx="108813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Semi-supervised learning for sparse labels.</a:t>
            </a:r>
          </a:p>
          <a:p>
            <a:pPr algn="l">
              <a:lnSpc>
                <a:spcPct val="105000"/>
              </a:lnSpc>
              <a:spcBef>
                <a:spcPts val="0"/>
              </a:spcBef>
              <a:spcAft>
                <a:spcPts val="0"/>
              </a:spcAft>
            </a:pPr>
            <a:r>
              <a:rPr sz="1600" b="0" i="0">
                <a:solidFill>
                  <a:srgbClr val="1F2A37"/>
                </a:solidFill>
                <a:latin typeface="Calibri"/>
              </a:rPr>
              <a:t>A self-training Random Forest exploits the large pool of unlabelled park-days, compensating for the scarce threat labels.</a:t>
            </a:r>
          </a:p>
        </p:txBody>
      </p:sp>
      <p:sp>
        <p:nvSpPr>
          <p:cNvPr id="16" name="TextBox 15"/>
          <p:cNvSpPr txBox="1"/>
          <p:nvPr/>
        </p:nvSpPr>
        <p:spPr>
          <a:xfrm>
            <a:off x="658368" y="4005072"/>
            <a:ext cx="108813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The forecast is coupled to the decision.</a:t>
            </a:r>
          </a:p>
          <a:p>
            <a:pPr algn="l">
              <a:lnSpc>
                <a:spcPct val="105000"/>
              </a:lnSpc>
              <a:spcBef>
                <a:spcPts val="0"/>
              </a:spcBef>
              <a:spcAft>
                <a:spcPts val="0"/>
              </a:spcAft>
            </a:pPr>
            <a:r>
              <a:rPr sz="1600" b="0" i="0">
                <a:solidFill>
                  <a:srgbClr val="1F2A37"/>
                </a:solidFill>
                <a:latin typeface="Calibri"/>
              </a:rPr>
              <a:t>An integer linear program turns each forecast, a budget and an intervention catalog into the allocation that maximises risk reduction across four zones. This coupling is what prior work omits.</a:t>
            </a:r>
          </a:p>
        </p:txBody>
      </p:sp>
      <p:sp>
        <p:nvSpPr>
          <p:cNvPr id="17" name="TextBox 16"/>
          <p:cNvSpPr txBox="1"/>
          <p:nvPr/>
        </p:nvSpPr>
        <p:spPr>
          <a:xfrm>
            <a:off x="658368" y="5084064"/>
            <a:ext cx="108813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Explainable and deployable.</a:t>
            </a:r>
          </a:p>
          <a:p>
            <a:pPr algn="l">
              <a:lnSpc>
                <a:spcPct val="105000"/>
              </a:lnSpc>
              <a:spcBef>
                <a:spcPts val="0"/>
              </a:spcBef>
              <a:spcAft>
                <a:spcPts val="0"/>
              </a:spcAft>
            </a:pPr>
            <a:r>
              <a:rPr sz="1600" b="0" i="0">
                <a:solidFill>
                  <a:srgbClr val="1F2A37"/>
                </a:solidFill>
                <a:latin typeface="Calibri"/>
              </a:rPr>
              <a:t>Per-threat drivers justify every forecast, delivered through a web dashboard a manager can operate.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11480"/>
            <a:ext cx="10515600" cy="731520"/>
          </a:xfrm>
          <a:prstGeom prst="rect">
            <a:avLst/>
          </a:prstGeom>
          <a:noFill/>
        </p:spPr>
        <p:txBody>
          <a:bodyPr wrap="square" anchor="t">
            <a:spAutoFit/>
          </a:bodyPr>
          <a:lstStyle/>
          <a:p>
            <a:pPr algn="l">
              <a:spcBef>
                <a:spcPts val="0"/>
              </a:spcBef>
              <a:spcAft>
                <a:spcPts val="0"/>
              </a:spcAft>
            </a:pPr>
            <a:r>
              <a:rPr sz="3000" b="1" i="0">
                <a:solidFill>
                  <a:srgbClr val="0F3D2E"/>
                </a:solidFill>
                <a:latin typeface="Calibri"/>
              </a:rPr>
              <a:t>Working prototype</a:t>
            </a:r>
          </a:p>
        </p:txBody>
      </p:sp>
      <p:sp>
        <p:nvSpPr>
          <p:cNvPr id="4" name="Rectangle 3"/>
          <p:cNvSpPr/>
          <p:nvPr/>
        </p:nvSpPr>
        <p:spPr>
          <a:xfrm>
            <a:off x="594360" y="1078992"/>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607040" y="6400800"/>
            <a:ext cx="109728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4 / 6</a:t>
            </a:r>
          </a:p>
        </p:txBody>
      </p:sp>
      <p:sp>
        <p:nvSpPr>
          <p:cNvPr id="8" name="TextBox 7"/>
          <p:cNvSpPr txBox="1"/>
          <p:nvPr/>
        </p:nvSpPr>
        <p:spPr>
          <a:xfrm>
            <a:off x="658368" y="1554480"/>
            <a:ext cx="108813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Deployed end to end.</a:t>
            </a:r>
          </a:p>
          <a:p>
            <a:pPr algn="l">
              <a:lnSpc>
                <a:spcPct val="105000"/>
              </a:lnSpc>
              <a:spcBef>
                <a:spcPts val="0"/>
              </a:spcBef>
              <a:spcAft>
                <a:spcPts val="0"/>
              </a:spcAft>
            </a:pPr>
            <a:r>
              <a:rPr sz="1600" b="0" i="0">
                <a:solidFill>
                  <a:srgbClr val="1F2A37"/>
                </a:solidFill>
                <a:latin typeface="Calibri"/>
              </a:rPr>
              <a:t>React on Vercel, FastAPI on Fly.io, a Neon Postgres database, and a daily GitHub Actions job that refreshes the forecasts automatically.</a:t>
            </a:r>
          </a:p>
        </p:txBody>
      </p:sp>
      <p:sp>
        <p:nvSpPr>
          <p:cNvPr id="9" name="TextBox 8"/>
          <p:cNvSpPr txBox="1"/>
          <p:nvPr/>
        </p:nvSpPr>
        <p:spPr>
          <a:xfrm>
            <a:off x="658368" y="2788920"/>
            <a:ext cx="108813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An operational dashboard.</a:t>
            </a:r>
          </a:p>
          <a:p>
            <a:pPr algn="l">
              <a:lnSpc>
                <a:spcPct val="105000"/>
              </a:lnSpc>
              <a:spcBef>
                <a:spcPts val="0"/>
              </a:spcBef>
              <a:spcAft>
                <a:spcPts val="0"/>
              </a:spcAft>
            </a:pPr>
            <a:r>
              <a:rPr sz="1600" b="0" i="0">
                <a:solidFill>
                  <a:srgbClr val="1F2A37"/>
                </a:solidFill>
                <a:latin typeface="Calibri"/>
              </a:rPr>
              <a:t>A national risk map, per-park 30-day forecasts with plain-language drivers, and a planner that returns a zone-level deployment plan for a chosen budget.</a:t>
            </a:r>
          </a:p>
        </p:txBody>
      </p:sp>
      <p:sp>
        <p:nvSpPr>
          <p:cNvPr id="10" name="TextBox 9"/>
          <p:cNvSpPr txBox="1"/>
          <p:nvPr/>
        </p:nvSpPr>
        <p:spPr>
          <a:xfrm>
            <a:off x="658368" y="4023360"/>
            <a:ext cx="108813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Engineered and verified.</a:t>
            </a:r>
          </a:p>
          <a:p>
            <a:pPr algn="l">
              <a:lnSpc>
                <a:spcPct val="105000"/>
              </a:lnSpc>
              <a:spcBef>
                <a:spcPts val="0"/>
              </a:spcBef>
              <a:spcAft>
                <a:spcPts val="0"/>
              </a:spcAft>
            </a:pPr>
            <a:r>
              <a:rPr sz="1600" b="0" i="0">
                <a:solidFill>
                  <a:srgbClr val="1F2A37"/>
                </a:solidFill>
                <a:latin typeface="Calibri"/>
              </a:rPr>
              <a:t>Seventeen automated tests pass, alongside integration and end-to-end checks run against the live system.</a:t>
            </a:r>
          </a:p>
        </p:txBody>
      </p:sp>
      <p:sp>
        <p:nvSpPr>
          <p:cNvPr id="11" name="Rounded Rectangle 10"/>
          <p:cNvSpPr/>
          <p:nvPr/>
        </p:nvSpPr>
        <p:spPr>
          <a:xfrm>
            <a:off x="658368" y="5440680"/>
            <a:ext cx="740664"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486400"/>
            <a:ext cx="740664"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Vercel</a:t>
            </a:r>
          </a:p>
        </p:txBody>
      </p:sp>
      <p:sp>
        <p:nvSpPr>
          <p:cNvPr id="13" name="Rounded Rectangle 12"/>
          <p:cNvSpPr/>
          <p:nvPr/>
        </p:nvSpPr>
        <p:spPr>
          <a:xfrm>
            <a:off x="1563624" y="5440680"/>
            <a:ext cx="740664"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63624" y="5486400"/>
            <a:ext cx="740664"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Fly.io</a:t>
            </a:r>
          </a:p>
        </p:txBody>
      </p:sp>
      <p:sp>
        <p:nvSpPr>
          <p:cNvPr id="15" name="Rounded Rectangle 14"/>
          <p:cNvSpPr/>
          <p:nvPr/>
        </p:nvSpPr>
        <p:spPr>
          <a:xfrm>
            <a:off x="2468880" y="5440680"/>
            <a:ext cx="548640"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5486400"/>
            <a:ext cx="548640"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Neon</a:t>
            </a:r>
          </a:p>
        </p:txBody>
      </p:sp>
      <p:sp>
        <p:nvSpPr>
          <p:cNvPr id="17" name="Rounded Rectangle 16"/>
          <p:cNvSpPr/>
          <p:nvPr/>
        </p:nvSpPr>
        <p:spPr>
          <a:xfrm>
            <a:off x="3182112" y="5440680"/>
            <a:ext cx="1508760"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82112" y="5486400"/>
            <a:ext cx="1508760"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GitHub Actions</a:t>
            </a:r>
          </a:p>
        </p:txBody>
      </p:sp>
      <p:sp>
        <p:nvSpPr>
          <p:cNvPr id="19" name="TextBox 18"/>
          <p:cNvSpPr txBox="1"/>
          <p:nvPr/>
        </p:nvSpPr>
        <p:spPr>
          <a:xfrm>
            <a:off x="6400800" y="5486400"/>
            <a:ext cx="5120640" cy="365760"/>
          </a:xfrm>
          <a:prstGeom prst="rect">
            <a:avLst/>
          </a:prstGeom>
          <a:noFill/>
        </p:spPr>
        <p:txBody>
          <a:bodyPr wrap="square" anchor="t">
            <a:spAutoFit/>
          </a:bodyPr>
          <a:lstStyle/>
          <a:p>
            <a:pPr algn="r">
              <a:spcBef>
                <a:spcPts val="0"/>
              </a:spcBef>
              <a:spcAft>
                <a:spcPts val="0"/>
              </a:spcAft>
            </a:pPr>
            <a:r>
              <a:rPr sz="1400" b="1" i="0">
                <a:solidFill>
                  <a:srgbClr val="10B981"/>
                </a:solidFill>
                <a:latin typeface="Calibri"/>
              </a:rPr>
              <a:t>Live:  conserve-ai.vercel.app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11480"/>
            <a:ext cx="10515600" cy="731520"/>
          </a:xfrm>
          <a:prstGeom prst="rect">
            <a:avLst/>
          </a:prstGeom>
          <a:noFill/>
        </p:spPr>
        <p:txBody>
          <a:bodyPr wrap="square" anchor="t">
            <a:spAutoFit/>
          </a:bodyPr>
          <a:lstStyle/>
          <a:p>
            <a:pPr algn="l">
              <a:spcBef>
                <a:spcPts val="0"/>
              </a:spcBef>
              <a:spcAft>
                <a:spcPts val="0"/>
              </a:spcAft>
            </a:pPr>
            <a:r>
              <a:rPr sz="3000" b="1" i="0">
                <a:solidFill>
                  <a:srgbClr val="0F3D2E"/>
                </a:solidFill>
                <a:latin typeface="Calibri"/>
              </a:rPr>
              <a:t>Results</a:t>
            </a:r>
          </a:p>
        </p:txBody>
      </p:sp>
      <p:sp>
        <p:nvSpPr>
          <p:cNvPr id="4" name="Rectangle 3"/>
          <p:cNvSpPr/>
          <p:nvPr/>
        </p:nvSpPr>
        <p:spPr>
          <a:xfrm>
            <a:off x="594360" y="1078992"/>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607040" y="6400800"/>
            <a:ext cx="109728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5 / 6</a:t>
            </a:r>
          </a:p>
        </p:txBody>
      </p:sp>
      <p:sp>
        <p:nvSpPr>
          <p:cNvPr id="8" name="TextBox 7"/>
          <p:cNvSpPr txBox="1"/>
          <p:nvPr/>
        </p:nvSpPr>
        <p:spPr>
          <a:xfrm>
            <a:off x="658368" y="1417320"/>
            <a:ext cx="10881360" cy="457200"/>
          </a:xfrm>
          <a:prstGeom prst="rect">
            <a:avLst/>
          </a:prstGeom>
          <a:noFill/>
        </p:spPr>
        <p:txBody>
          <a:bodyPr wrap="square" anchor="t">
            <a:spAutoFit/>
          </a:bodyPr>
          <a:lstStyle/>
          <a:p>
            <a:pPr algn="l">
              <a:spcBef>
                <a:spcPts val="0"/>
              </a:spcBef>
              <a:spcAft>
                <a:spcPts val="0"/>
              </a:spcAft>
            </a:pPr>
            <a:r>
              <a:rPr sz="1600" b="0" i="0">
                <a:solidFill>
                  <a:srgbClr val="1F2A37"/>
                </a:solidFill>
                <a:latin typeface="Calibri"/>
              </a:rPr>
              <a:t>Forecast accuracy on a held-out 2024-2025 test set (n = 3,812 park-days the model never saw):</a:t>
            </a:r>
          </a:p>
        </p:txBody>
      </p:sp>
      <p:sp>
        <p:nvSpPr>
          <p:cNvPr id="9" name="Rounded Rectangle 8"/>
          <p:cNvSpPr/>
          <p:nvPr/>
        </p:nvSpPr>
        <p:spPr>
          <a:xfrm>
            <a:off x="658368" y="2057400"/>
            <a:ext cx="3520440" cy="1828800"/>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057400"/>
            <a:ext cx="3520440" cy="76200"/>
          </a:xfrm>
          <a:prstGeom prst="rect">
            <a:avLst/>
          </a:prstGeom>
          <a:solidFill>
            <a:srgbClr val="E64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286000"/>
            <a:ext cx="3520440" cy="411480"/>
          </a:xfrm>
          <a:prstGeom prst="rect">
            <a:avLst/>
          </a:prstGeom>
          <a:noFill/>
        </p:spPr>
        <p:txBody>
          <a:bodyPr wrap="square" anchor="t">
            <a:spAutoFit/>
          </a:bodyPr>
          <a:lstStyle/>
          <a:p>
            <a:pPr algn="ctr">
              <a:spcBef>
                <a:spcPts val="0"/>
              </a:spcBef>
              <a:spcAft>
                <a:spcPts val="0"/>
              </a:spcAft>
            </a:pPr>
            <a:r>
              <a:rPr sz="1600" b="1" i="0">
                <a:solidFill>
                  <a:srgbClr val="1F2A37"/>
                </a:solidFill>
                <a:latin typeface="Calibri"/>
              </a:rPr>
              <a:t>Fire risk</a:t>
            </a:r>
          </a:p>
        </p:txBody>
      </p:sp>
      <p:sp>
        <p:nvSpPr>
          <p:cNvPr id="12" name="TextBox 11"/>
          <p:cNvSpPr txBox="1"/>
          <p:nvPr/>
        </p:nvSpPr>
        <p:spPr>
          <a:xfrm>
            <a:off x="658368" y="2697480"/>
            <a:ext cx="3520440" cy="868680"/>
          </a:xfrm>
          <a:prstGeom prst="rect">
            <a:avLst/>
          </a:prstGeom>
          <a:noFill/>
        </p:spPr>
        <p:txBody>
          <a:bodyPr wrap="square" anchor="t">
            <a:spAutoFit/>
          </a:bodyPr>
          <a:lstStyle/>
          <a:p>
            <a:pPr algn="ctr">
              <a:spcBef>
                <a:spcPts val="0"/>
              </a:spcBef>
              <a:spcAft>
                <a:spcPts val="0"/>
              </a:spcAft>
            </a:pPr>
            <a:r>
              <a:rPr sz="5200" b="1" i="0">
                <a:solidFill>
                  <a:srgbClr val="E64A19"/>
                </a:solidFill>
                <a:latin typeface="Calibri"/>
              </a:rPr>
              <a:t>0.94</a:t>
            </a:r>
          </a:p>
        </p:txBody>
      </p:sp>
      <p:sp>
        <p:nvSpPr>
          <p:cNvPr id="13" name="TextBox 12"/>
          <p:cNvSpPr txBox="1"/>
          <p:nvPr/>
        </p:nvSpPr>
        <p:spPr>
          <a:xfrm>
            <a:off x="658368" y="3520440"/>
            <a:ext cx="3520440" cy="320040"/>
          </a:xfrm>
          <a:prstGeom prst="rect">
            <a:avLst/>
          </a:prstGeom>
          <a:noFill/>
        </p:spPr>
        <p:txBody>
          <a:bodyPr wrap="square" anchor="t">
            <a:spAutoFit/>
          </a:bodyPr>
          <a:lstStyle/>
          <a:p>
            <a:pPr algn="ctr">
              <a:spcBef>
                <a:spcPts val="0"/>
              </a:spcBef>
              <a:spcAft>
                <a:spcPts val="0"/>
              </a:spcAft>
            </a:pPr>
            <a:r>
              <a:rPr sz="1300" b="0" i="0">
                <a:solidFill>
                  <a:srgbClr val="556577"/>
                </a:solidFill>
                <a:latin typeface="Calibri"/>
              </a:rPr>
              <a:t>F2 score</a:t>
            </a:r>
          </a:p>
        </p:txBody>
      </p:sp>
      <p:sp>
        <p:nvSpPr>
          <p:cNvPr id="14" name="Rounded Rectangle 13"/>
          <p:cNvSpPr/>
          <p:nvPr/>
        </p:nvSpPr>
        <p:spPr>
          <a:xfrm>
            <a:off x="4425696" y="2057400"/>
            <a:ext cx="3520440" cy="1828800"/>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2057400"/>
            <a:ext cx="3520440" cy="76200"/>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286000"/>
            <a:ext cx="3520440" cy="411480"/>
          </a:xfrm>
          <a:prstGeom prst="rect">
            <a:avLst/>
          </a:prstGeom>
          <a:noFill/>
        </p:spPr>
        <p:txBody>
          <a:bodyPr wrap="square" anchor="t">
            <a:spAutoFit/>
          </a:bodyPr>
          <a:lstStyle/>
          <a:p>
            <a:pPr algn="ctr">
              <a:spcBef>
                <a:spcPts val="0"/>
              </a:spcBef>
              <a:spcAft>
                <a:spcPts val="0"/>
              </a:spcAft>
            </a:pPr>
            <a:r>
              <a:rPr sz="1600" b="1" i="0">
                <a:solidFill>
                  <a:srgbClr val="1F2A37"/>
                </a:solidFill>
                <a:latin typeface="Calibri"/>
              </a:rPr>
              <a:t>Drought risk</a:t>
            </a:r>
          </a:p>
        </p:txBody>
      </p:sp>
      <p:sp>
        <p:nvSpPr>
          <p:cNvPr id="17" name="TextBox 16"/>
          <p:cNvSpPr txBox="1"/>
          <p:nvPr/>
        </p:nvSpPr>
        <p:spPr>
          <a:xfrm>
            <a:off x="4425696" y="2697480"/>
            <a:ext cx="3520440" cy="868680"/>
          </a:xfrm>
          <a:prstGeom prst="rect">
            <a:avLst/>
          </a:prstGeom>
          <a:noFill/>
        </p:spPr>
        <p:txBody>
          <a:bodyPr wrap="square" anchor="t">
            <a:spAutoFit/>
          </a:bodyPr>
          <a:lstStyle/>
          <a:p>
            <a:pPr algn="ctr">
              <a:spcBef>
                <a:spcPts val="0"/>
              </a:spcBef>
              <a:spcAft>
                <a:spcPts val="0"/>
              </a:spcAft>
            </a:pPr>
            <a:r>
              <a:rPr sz="5200" b="1" i="0">
                <a:solidFill>
                  <a:srgbClr val="1976D2"/>
                </a:solidFill>
                <a:latin typeface="Calibri"/>
              </a:rPr>
              <a:t>0.89</a:t>
            </a:r>
          </a:p>
        </p:txBody>
      </p:sp>
      <p:sp>
        <p:nvSpPr>
          <p:cNvPr id="18" name="TextBox 17"/>
          <p:cNvSpPr txBox="1"/>
          <p:nvPr/>
        </p:nvSpPr>
        <p:spPr>
          <a:xfrm>
            <a:off x="4425696" y="3520440"/>
            <a:ext cx="3520440" cy="320040"/>
          </a:xfrm>
          <a:prstGeom prst="rect">
            <a:avLst/>
          </a:prstGeom>
          <a:noFill/>
        </p:spPr>
        <p:txBody>
          <a:bodyPr wrap="square" anchor="t">
            <a:spAutoFit/>
          </a:bodyPr>
          <a:lstStyle/>
          <a:p>
            <a:pPr algn="ctr">
              <a:spcBef>
                <a:spcPts val="0"/>
              </a:spcBef>
              <a:spcAft>
                <a:spcPts val="0"/>
              </a:spcAft>
            </a:pPr>
            <a:r>
              <a:rPr sz="1300" b="0" i="0">
                <a:solidFill>
                  <a:srgbClr val="556577"/>
                </a:solidFill>
                <a:latin typeface="Calibri"/>
              </a:rPr>
              <a:t>F2 score</a:t>
            </a:r>
          </a:p>
        </p:txBody>
      </p:sp>
      <p:sp>
        <p:nvSpPr>
          <p:cNvPr id="19" name="Rounded Rectangle 18"/>
          <p:cNvSpPr/>
          <p:nvPr/>
        </p:nvSpPr>
        <p:spPr>
          <a:xfrm>
            <a:off x="8193024" y="2057400"/>
            <a:ext cx="3520440" cy="1828800"/>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3024" y="2057400"/>
            <a:ext cx="352044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2286000"/>
            <a:ext cx="3520440" cy="411480"/>
          </a:xfrm>
          <a:prstGeom prst="rect">
            <a:avLst/>
          </a:prstGeom>
          <a:noFill/>
        </p:spPr>
        <p:txBody>
          <a:bodyPr wrap="square" anchor="t">
            <a:spAutoFit/>
          </a:bodyPr>
          <a:lstStyle/>
          <a:p>
            <a:pPr algn="ctr">
              <a:spcBef>
                <a:spcPts val="0"/>
              </a:spcBef>
              <a:spcAft>
                <a:spcPts val="0"/>
              </a:spcAft>
            </a:pPr>
            <a:r>
              <a:rPr sz="1600" b="1" i="0">
                <a:solidFill>
                  <a:srgbClr val="1F2A37"/>
                </a:solidFill>
                <a:latin typeface="Calibri"/>
              </a:rPr>
              <a:t>Vegetation risk</a:t>
            </a:r>
          </a:p>
        </p:txBody>
      </p:sp>
      <p:sp>
        <p:nvSpPr>
          <p:cNvPr id="22" name="TextBox 21"/>
          <p:cNvSpPr txBox="1"/>
          <p:nvPr/>
        </p:nvSpPr>
        <p:spPr>
          <a:xfrm>
            <a:off x="8193024" y="2697480"/>
            <a:ext cx="3520440" cy="868680"/>
          </a:xfrm>
          <a:prstGeom prst="rect">
            <a:avLst/>
          </a:prstGeom>
          <a:noFill/>
        </p:spPr>
        <p:txBody>
          <a:bodyPr wrap="square" anchor="t">
            <a:spAutoFit/>
          </a:bodyPr>
          <a:lstStyle/>
          <a:p>
            <a:pPr algn="ctr">
              <a:spcBef>
                <a:spcPts val="0"/>
              </a:spcBef>
              <a:spcAft>
                <a:spcPts val="0"/>
              </a:spcAft>
            </a:pPr>
            <a:r>
              <a:rPr sz="5200" b="1" i="0">
                <a:solidFill>
                  <a:srgbClr val="2E7D32"/>
                </a:solidFill>
                <a:latin typeface="Calibri"/>
              </a:rPr>
              <a:t>0.75</a:t>
            </a:r>
          </a:p>
        </p:txBody>
      </p:sp>
      <p:sp>
        <p:nvSpPr>
          <p:cNvPr id="23" name="TextBox 22"/>
          <p:cNvSpPr txBox="1"/>
          <p:nvPr/>
        </p:nvSpPr>
        <p:spPr>
          <a:xfrm>
            <a:off x="8193024" y="3520440"/>
            <a:ext cx="3520440" cy="320040"/>
          </a:xfrm>
          <a:prstGeom prst="rect">
            <a:avLst/>
          </a:prstGeom>
          <a:noFill/>
        </p:spPr>
        <p:txBody>
          <a:bodyPr wrap="square" anchor="t">
            <a:spAutoFit/>
          </a:bodyPr>
          <a:lstStyle/>
          <a:p>
            <a:pPr algn="ctr">
              <a:spcBef>
                <a:spcPts val="0"/>
              </a:spcBef>
              <a:spcAft>
                <a:spcPts val="0"/>
              </a:spcAft>
            </a:pPr>
            <a:r>
              <a:rPr sz="1300" b="0" i="0">
                <a:solidFill>
                  <a:srgbClr val="556577"/>
                </a:solidFill>
                <a:latin typeface="Calibri"/>
              </a:rPr>
              <a:t>F2 score</a:t>
            </a:r>
          </a:p>
        </p:txBody>
      </p:sp>
      <p:sp>
        <p:nvSpPr>
          <p:cNvPr id="24" name="TextBox 23"/>
          <p:cNvSpPr txBox="1"/>
          <p:nvPr/>
        </p:nvSpPr>
        <p:spPr>
          <a:xfrm>
            <a:off x="658368" y="4251960"/>
            <a:ext cx="10881360" cy="1463040"/>
          </a:xfrm>
          <a:prstGeom prst="rect">
            <a:avLst/>
          </a:prstGeom>
          <a:noFill/>
        </p:spPr>
        <p:txBody>
          <a:bodyPr wrap="square" anchor="t">
            <a:spAutoFit/>
          </a:bodyPr>
          <a:lstStyle/>
          <a:p>
            <a:pPr algn="l">
              <a:lnSpc>
                <a:spcPct val="105000"/>
              </a:lnSpc>
              <a:spcBef>
                <a:spcPts val="0"/>
              </a:spcBef>
              <a:spcAft>
                <a:spcPts val="1200"/>
              </a:spcAft>
            </a:pPr>
            <a:r>
              <a:rPr sz="1600" b="0" i="0">
                <a:solidFill>
                  <a:srgbClr val="1F2A37"/>
                </a:solidFill>
                <a:latin typeface="Calibri"/>
              </a:rPr>
              <a:t>F2 weights recall: missing a real threat costs more than a false alarm. Fire and drought are strong; vegetation is moderate.</a:t>
            </a:r>
          </a:p>
          <a:p>
            <a:pPr algn="l">
              <a:spcBef>
                <a:spcPts val="0"/>
              </a:spcBef>
              <a:spcAft>
                <a:spcPts val="300"/>
              </a:spcAft>
            </a:pPr>
            <a:r>
              <a:rPr sz="1800" b="1" i="0">
                <a:solidFill>
                  <a:srgbClr val="0F3D2E"/>
                </a:solidFill>
                <a:latin typeface="Calibri"/>
              </a:rPr>
              <a:t>Recommender.</a:t>
            </a:r>
          </a:p>
          <a:p>
            <a:pPr algn="l">
              <a:lnSpc>
                <a:spcPct val="105000"/>
              </a:lnSpc>
              <a:spcBef>
                <a:spcPts val="0"/>
              </a:spcBef>
              <a:spcAft>
                <a:spcPts val="1200"/>
              </a:spcAft>
            </a:pPr>
            <a:r>
              <a:rPr sz="1600" b="0" i="0">
                <a:solidFill>
                  <a:srgbClr val="1F2A37"/>
                </a:solidFill>
                <a:latin typeface="Calibri"/>
              </a:rPr>
              <a:t>Honours the budget and per-intervention capacity in every test, scales with the budget, and solves a plan in under 60 ms.</a:t>
            </a:r>
          </a:p>
          <a:p>
            <a:pPr algn="l">
              <a:spcBef>
                <a:spcPts val="0"/>
              </a:spcBef>
              <a:spcAft>
                <a:spcPts val="0"/>
              </a:spcAft>
            </a:pPr>
            <a:r>
              <a:rPr sz="1600" b="1" i="0">
                <a:solidFill>
                  <a:srgbClr val="0F3D2E"/>
                </a:solidFill>
                <a:latin typeface="Calibri"/>
              </a:rPr>
              <a:t>Forecasting, optimisation, the web application, testing and deployment are complete.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11480"/>
            <a:ext cx="10515600" cy="731520"/>
          </a:xfrm>
          <a:prstGeom prst="rect">
            <a:avLst/>
          </a:prstGeom>
          <a:noFill/>
        </p:spPr>
        <p:txBody>
          <a:bodyPr wrap="square" anchor="t">
            <a:spAutoFit/>
          </a:bodyPr>
          <a:lstStyle/>
          <a:p>
            <a:pPr algn="l">
              <a:spcBef>
                <a:spcPts val="0"/>
              </a:spcBef>
              <a:spcAft>
                <a:spcPts val="0"/>
              </a:spcAft>
            </a:pPr>
            <a:r>
              <a:rPr sz="3000" b="1" i="0">
                <a:solidFill>
                  <a:srgbClr val="0F3D2E"/>
                </a:solidFill>
                <a:latin typeface="Calibri"/>
              </a:rPr>
              <a:t>Limitations to discuss</a:t>
            </a:r>
          </a:p>
        </p:txBody>
      </p:sp>
      <p:sp>
        <p:nvSpPr>
          <p:cNvPr id="4" name="Rectangle 3"/>
          <p:cNvSpPr/>
          <p:nvPr/>
        </p:nvSpPr>
        <p:spPr>
          <a:xfrm>
            <a:off x="594360" y="1078992"/>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607040" y="6400800"/>
            <a:ext cx="109728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6 / 6</a:t>
            </a:r>
          </a:p>
        </p:txBody>
      </p:sp>
      <p:sp>
        <p:nvSpPr>
          <p:cNvPr id="8" name="Oval 7"/>
          <p:cNvSpPr/>
          <p:nvPr/>
        </p:nvSpPr>
        <p:spPr>
          <a:xfrm>
            <a:off x="640080" y="1664208"/>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104241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Label leakage.</a:t>
            </a:r>
          </a:p>
          <a:p>
            <a:pPr algn="l">
              <a:lnSpc>
                <a:spcPct val="105000"/>
              </a:lnSpc>
              <a:spcBef>
                <a:spcPts val="0"/>
              </a:spcBef>
              <a:spcAft>
                <a:spcPts val="0"/>
              </a:spcAft>
            </a:pPr>
            <a:r>
              <a:rPr sz="1600" b="0" i="0">
                <a:solidFill>
                  <a:srgbClr val="1F2A37"/>
                </a:solidFill>
                <a:latin typeface="Calibri"/>
              </a:rPr>
              <a:t>Drought and vegetation labels derive from climate thresholds, so their reported accuracy is likely inflated. An independent ground truth is needed.</a:t>
            </a:r>
          </a:p>
        </p:txBody>
      </p:sp>
      <p:sp>
        <p:nvSpPr>
          <p:cNvPr id="10" name="Oval 9"/>
          <p:cNvSpPr/>
          <p:nvPr/>
        </p:nvSpPr>
        <p:spPr>
          <a:xfrm>
            <a:off x="640080" y="308152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017520"/>
            <a:ext cx="104241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Sensor-bound threat scope.</a:t>
            </a:r>
          </a:p>
          <a:p>
            <a:pPr algn="l">
              <a:lnSpc>
                <a:spcPct val="105000"/>
              </a:lnSpc>
              <a:spcBef>
                <a:spcPts val="0"/>
              </a:spcBef>
              <a:spcAft>
                <a:spcPts val="0"/>
              </a:spcAft>
            </a:pPr>
            <a:r>
              <a:rPr sz="1600" b="0" i="0">
                <a:solidFill>
                  <a:srgbClr val="1F2A37"/>
                </a:solidFill>
                <a:latin typeface="Calibri"/>
              </a:rPr>
              <a:t>Poaching and grazing encroachment, the threats that dominate in practice, are not remotely observable and fall outside the model.</a:t>
            </a:r>
          </a:p>
        </p:txBody>
      </p:sp>
      <p:sp>
        <p:nvSpPr>
          <p:cNvPr id="12" name="Oval 11"/>
          <p:cNvSpPr/>
          <p:nvPr/>
        </p:nvSpPr>
        <p:spPr>
          <a:xfrm>
            <a:off x="640080" y="4498848"/>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434840"/>
            <a:ext cx="10424160" cy="1097280"/>
          </a:xfrm>
          <a:prstGeom prst="rect">
            <a:avLst/>
          </a:prstGeom>
          <a:noFill/>
        </p:spPr>
        <p:txBody>
          <a:bodyPr wrap="square" anchor="t">
            <a:spAutoFit/>
          </a:bodyPr>
          <a:lstStyle/>
          <a:p>
            <a:pPr algn="l">
              <a:spcBef>
                <a:spcPts val="0"/>
              </a:spcBef>
              <a:spcAft>
                <a:spcPts val="300"/>
              </a:spcAft>
            </a:pPr>
            <a:r>
              <a:rPr sz="1900" b="1" i="0">
                <a:solidFill>
                  <a:srgbClr val="0F3D2E"/>
                </a:solidFill>
                <a:latin typeface="Calibri"/>
              </a:rPr>
              <a:t>Unvalidated parameters.</a:t>
            </a:r>
          </a:p>
          <a:p>
            <a:pPr algn="l">
              <a:lnSpc>
                <a:spcPct val="105000"/>
              </a:lnSpc>
              <a:spcBef>
                <a:spcPts val="0"/>
              </a:spcBef>
              <a:spcAft>
                <a:spcPts val="0"/>
              </a:spcAft>
            </a:pPr>
            <a:r>
              <a:rPr sz="1600" b="0" i="0">
                <a:solidFill>
                  <a:srgbClr val="1F2A37"/>
                </a:solidFill>
                <a:latin typeface="Calibri"/>
              </a:rPr>
              <a:t>Intervention costs and effectiveness are drawn from the literature, not measured in these parks.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