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07040" y="0"/>
            <a:ext cx="1581912" cy="1371600"/>
          </a:xfrm>
          <a:prstGeom prst="rect">
            <a:avLst/>
          </a:prstGeom>
          <a:solidFill>
            <a:srgbClr val="D3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966960" y="1188720"/>
            <a:ext cx="2221992" cy="1097280"/>
          </a:xfrm>
          <a:prstGeom prst="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AFRICAN LEADERSHIP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82296" cy="3108960"/>
          </a:xfrm>
          <a:prstGeom prst="rect">
            <a:avLst/>
          </a:prstGeom>
          <a:solidFill>
            <a:srgbClr val="D3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84B"/>
                </a:solidFill>
                <a:latin typeface="Calibri"/>
              </a:rPr>
              <a:t>Hybrid Machine Learning System for Multi-Threat Probabilistic Forecasting and Budget-Constrained Intervention Recommendation in Nigerian National Parks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D31A38"/>
                </a:solidFill>
                <a:latin typeface="Calibri"/>
              </a:rPr>
              <a:t>ConserveAI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2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3A4252"/>
                </a:solidFill>
                <a:latin typeface="Calibri"/>
              </a:rPr>
              <a:t>Student:  Fadhlullah Olusola Abdulazeez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3A4252"/>
                </a:solidFill>
                <a:latin typeface="Calibri"/>
              </a:rPr>
              <a:t>Supervisor:  Mr. Emmanuel Adjei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3A4252"/>
                </a:solidFill>
                <a:latin typeface="Calibri"/>
              </a:rPr>
              <a:t>Department:  Software Engineering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3A4252"/>
                </a:solidFill>
                <a:latin typeface="Calibri"/>
              </a:rPr>
              <a:t>University:  African Leadership University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3A4252"/>
                </a:solidFill>
                <a:latin typeface="Calibri"/>
              </a:rPr>
              <a:t>Presentation Date:  [ add date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603504"/>
          </a:xfrm>
          <a:prstGeom prst="rect">
            <a:avLst/>
          </a:prstGeom>
          <a:solidFill>
            <a:srgbClr val="D3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84B"/>
                </a:solidFill>
                <a:latin typeface="Calibri"/>
              </a:rPr>
              <a:t>Problem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78992"/>
            <a:ext cx="10881360" cy="2032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325880"/>
            <a:ext cx="5349240" cy="228600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35608"/>
            <a:ext cx="50200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828800"/>
            <a:ext cx="50200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Nigeria has 30+ protected areas covering 99,292 km2, under rising fire, drought and vegetation pressure from climate change.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Conservation has been reactive: patrols and post-incident reporting, with thin, inconsistent coverage.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349240" cy="228600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435608"/>
            <a:ext cx="50200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828800"/>
            <a:ext cx="50200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Managers cannot anticipate threats or plan interventions within tight budgets - damage is addressed only after it occurs.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Supervised ML needs labelled data these parks do not maintain (&lt;300 species records per park).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794760"/>
            <a:ext cx="5349240" cy="242316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904488"/>
            <a:ext cx="50200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Stakeholders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4297680"/>
            <a:ext cx="502005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Park managers &amp; rangers - primary users; they absorb the cost of a wrong forecast.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National park administration - the authority to act stays with them.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Communities around parks - affected, deliberately not represented in the data (privacy).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794760"/>
            <a:ext cx="5349240" cy="242316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3904488"/>
            <a:ext cx="50200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Evidence of 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4297680"/>
            <a:ext cx="5020056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African protected areas lost ~59% of large mammals (1970-2005).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Only 1.71% of Nigeria's protected land has ever been evaluated for management effectiveness.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SMART is retrospective; PAWS needs incident histories and covers poaching 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ConserveAI  |  Mission Capstone Defense  |  African Leadership University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5566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603504"/>
          </a:xfrm>
          <a:prstGeom prst="rect">
            <a:avLst/>
          </a:prstGeom>
          <a:solidFill>
            <a:srgbClr val="D3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84B"/>
                </a:solidFill>
                <a:latin typeface="Calibri"/>
              </a:rPr>
              <a:t>Project Objectives and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78992"/>
            <a:ext cx="10881360" cy="2032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325880"/>
            <a:ext cx="10927080" cy="137160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35608"/>
            <a:ext cx="10597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Main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828800"/>
            <a:ext cx="1059789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A4252"/>
                </a:solidFill>
                <a:latin typeface="Calibri"/>
              </a:rPr>
              <a:t>Develop a live system that produces daily 30-day probabilistic forecasts for fire, drought and vegetation degradation across six Nigerian national parks, and recommends budget-constrained, zone-level interventions - using only free environmental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880360"/>
            <a:ext cx="5577840" cy="329184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990088"/>
            <a:ext cx="5248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Specific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383280"/>
            <a:ext cx="5248656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Assemble a daily multi-source dataset (2020-2025) and construct three binary 30-day threat labels per park-date.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Build the solution: pipeline; RF / XGBoost / LSTM / Transformer (supervised + semi-supervised); ILP recommender; React + FastAPI app; daily cron; deployed to free-tier cloud.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Evaluate with imbalance-aware metrics: F2, ROC-AUC, Brier, lead time, a persistence baseline, and per-park bootstrap CIs.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880360"/>
            <a:ext cx="5193792" cy="329184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2990088"/>
            <a:ext cx="4864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3383280"/>
            <a:ext cx="486460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Included: 6 parks, 3 threats, 30-day horizon, zone-level recommendation, free public APIs only.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Excluded: poaching and grazing (not remotely observable), field testing with park staff, national-level budget allocation.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ConserveAI  |  Mission Capstone Defense  |  African Leadership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5566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603504"/>
          </a:xfrm>
          <a:prstGeom prst="rect">
            <a:avLst/>
          </a:prstGeom>
          <a:solidFill>
            <a:srgbClr val="D3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84B"/>
                </a:solidFill>
                <a:latin typeface="Calibri"/>
              </a:rPr>
              <a:t>Literature Review &amp; Gap Identification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78992"/>
            <a:ext cx="10881360" cy="2032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3444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4252"/>
                </a:solidFill>
                <a:latin typeface="Calibri"/>
              </a:rPr>
              <a:t>~90 peer-reviewed papers (2016-2026) reviewed thematically; the two closest systems compared below.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" y="1783080"/>
          <a:ext cx="109270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468880"/>
                <a:gridCol w="2377440"/>
                <a:gridCol w="2331720"/>
                <a:gridCol w="219456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marT="25400" marB="25400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marT="25400" marB="25400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Threats</a:t>
                      </a:r>
                    </a:p>
                  </a:txBody>
                  <a:tcPr marT="25400" marB="25400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Predictive?</a:t>
                      </a:r>
                    </a:p>
                  </a:txBody>
                  <a:tcPr marT="25400" marB="25400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Budget optimisation</a:t>
                      </a:r>
                    </a:p>
                  </a:txBody>
                  <a:tcPr marT="25400" marB="25400">
                    <a:solidFill>
                      <a:srgbClr val="14284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4284B"/>
                          </a:solidFill>
                        </a:rPr>
                        <a:t>SMART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A4252"/>
                          </a:solidFill>
                        </a:rPr>
                        <a:t>Ranger patrol logging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A4252"/>
                          </a:solidFill>
                        </a:rPr>
                        <a:t>Whatever rangers observe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A4252"/>
                          </a:solidFill>
                        </a:rPr>
                        <a:t>No (retrospective)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A4252"/>
                          </a:solidFill>
                        </a:rPr>
                        <a:t>No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4284B"/>
                          </a:solidFill>
                        </a:rPr>
                        <a:t>PAWS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A4252"/>
                          </a:solidFill>
                        </a:rPr>
                        <a:t>Game-theoretic patrols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A4252"/>
                          </a:solidFill>
                        </a:rPr>
                        <a:t>Poaching only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A4252"/>
                          </a:solidFill>
                        </a:rPr>
                        <a:t>Yes (needs incident history)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A4252"/>
                          </a:solidFill>
                        </a:rPr>
                        <a:t>Patrol routing, not budget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4284B"/>
                          </a:solidFill>
                        </a:rPr>
                        <a:t>ConserveAI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A4252"/>
                          </a:solidFill>
                        </a:rPr>
                        <a:t>ML forecast + ILP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A4252"/>
                          </a:solidFill>
                        </a:rPr>
                        <a:t>Fire, drought, vegetation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A4252"/>
                          </a:solidFill>
                        </a:rPr>
                        <a:t>Yes (30-day forecast)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A4252"/>
                          </a:solidFill>
                        </a:rPr>
                        <a:t>Yes (budget-constrained, zone-level)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" y="4297680"/>
            <a:ext cx="10927080" cy="1874519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4407408"/>
            <a:ext cx="10597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Identified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800600"/>
            <a:ext cx="10597896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Semi-supervised multi-threat probabilistic forecasting is under-applied in African, data-scarce conservation.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ILP-based budget allocation has not been integrated with such forecasts in the published literature.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No existing system serves Nigerian park managers with predictive, transparent, budget-aware decision support.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ConserveAI  |  Mission Capstone Defense  |  African Leadership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5566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603504"/>
          </a:xfrm>
          <a:prstGeom prst="rect">
            <a:avLst/>
          </a:prstGeom>
          <a:solidFill>
            <a:srgbClr val="D3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84B"/>
                </a:solidFill>
                <a:latin typeface="Calibri"/>
              </a:rPr>
              <a:t>System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78992"/>
            <a:ext cx="10881360" cy="2032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325880"/>
            <a:ext cx="5577840" cy="489204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35608"/>
            <a:ext cx="5248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Functional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828800"/>
            <a:ext cx="524865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Role-based login (admin / park manager), park-scoped access control.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National risk overview - Nigeria map, per-park risk, threat lens.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Per-park 30-day forecast with driver (SHAP) explanations.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Budget-constrained, zone-level intervention recommender.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Daily scheduled job that refreshes forecasts automatically.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Admin provisioning of manager accounts (emailed temp password).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25880"/>
            <a:ext cx="5193792" cy="233172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435608"/>
            <a:ext cx="4864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Non-Functional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828800"/>
            <a:ext cx="4864608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Performance: sub-second warm responses; ILP solves in &lt;60 ms.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Security: bcrypt hashing, JWT httpOnly cookies, park-scoping.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Reliability: unattended operation on free-tier cloud.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Transparency: auditable, explained recommendations.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840480"/>
            <a:ext cx="5193792" cy="2377440"/>
          </a:xfrm>
          <a:prstGeom prst="roundRect">
            <a:avLst/>
          </a:prstGeom>
          <a:solidFill>
            <a:srgbClr val="FFF6E8"/>
          </a:solidFill>
          <a:ln w="17780">
            <a:solidFill>
              <a:srgbClr val="E0A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840480"/>
            <a:ext cx="5193792" cy="2377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86A00"/>
                </a:solidFill>
                <a:latin typeface="Calibri"/>
              </a:rPr>
              <a:t>[ PASTE DIAGRAM ]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6A2A"/>
                </a:solidFill>
                <a:latin typeface="Calibri"/>
              </a:rPr>
              <a:t>Use Case Diagram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ConserveAI  |  Mission Capstone Defense  |  African Leadership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5566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603504"/>
          </a:xfrm>
          <a:prstGeom prst="rect">
            <a:avLst/>
          </a:prstGeom>
          <a:solidFill>
            <a:srgbClr val="D3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84B"/>
                </a:solidFill>
                <a:latin typeface="Calibri"/>
              </a:rPr>
              <a:t>System Analysis, Design &amp;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78992"/>
            <a:ext cx="10881360" cy="2032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98448"/>
            <a:ext cx="3108960" cy="33285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" y="4654413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4284B"/>
                </a:solidFill>
                <a:latin typeface="Calibri"/>
              </a:rPr>
              <a:t>ML pipeline (proposed 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4937760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A4252"/>
                </a:solidFill>
                <a:latin typeface="Calibri"/>
              </a:rPr>
              <a:t>Methodology: applied design science; iterative agile SDLC - each 2-week iteration a deployable artefact.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298448"/>
            <a:ext cx="7571231" cy="2286000"/>
          </a:xfrm>
          <a:prstGeom prst="roundRect">
            <a:avLst/>
          </a:prstGeom>
          <a:solidFill>
            <a:srgbClr val="FFF6E8"/>
          </a:solidFill>
          <a:ln w="17780">
            <a:solidFill>
              <a:srgbClr val="E0A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39" y="1298448"/>
            <a:ext cx="7571231" cy="228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86A00"/>
                </a:solidFill>
                <a:latin typeface="Calibri"/>
              </a:rPr>
              <a:t>[ PASTE DIAGRAM ]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6A2A"/>
                </a:solidFill>
                <a:latin typeface="Calibri"/>
              </a:rPr>
              <a:t>System Architecture (5-layer)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3840480"/>
            <a:ext cx="3703320" cy="2331720"/>
          </a:xfrm>
          <a:prstGeom prst="roundRect">
            <a:avLst/>
          </a:prstGeom>
          <a:solidFill>
            <a:srgbClr val="FFF6E8"/>
          </a:solidFill>
          <a:ln w="17780">
            <a:solidFill>
              <a:srgbClr val="E0A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3840480"/>
            <a:ext cx="3703320" cy="233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86A00"/>
                </a:solidFill>
                <a:latin typeface="Calibri"/>
              </a:rPr>
              <a:t>[ PASTE DIAGRAM ]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6A2A"/>
                </a:solidFill>
                <a:latin typeface="Calibri"/>
              </a:rPr>
              <a:t>ERD (PostgreSQL schema)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5552" y="3840480"/>
            <a:ext cx="3703320" cy="2331720"/>
          </a:xfrm>
          <a:prstGeom prst="roundRect">
            <a:avLst/>
          </a:prstGeom>
          <a:solidFill>
            <a:srgbClr val="FFF6E8"/>
          </a:solidFill>
          <a:ln w="17780">
            <a:solidFill>
              <a:srgbClr val="E0A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3840480"/>
            <a:ext cx="3703320" cy="233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86A00"/>
                </a:solidFill>
                <a:latin typeface="Calibri"/>
              </a:rPr>
              <a:t>[ PASTE DIAGRAM ]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A6A2A"/>
                </a:solidFill>
                <a:latin typeface="Calibri"/>
              </a:rPr>
              <a:t>Class Diagram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ConserveAI  |  Mission Capstone Defense  |  African Leadership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5566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603504"/>
          </a:xfrm>
          <a:prstGeom prst="rect">
            <a:avLst/>
          </a:prstGeom>
          <a:solidFill>
            <a:srgbClr val="D3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84B"/>
                </a:solidFill>
                <a:latin typeface="Calibri"/>
              </a:rPr>
              <a:t>Implementation &amp;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78992"/>
            <a:ext cx="10881360" cy="2032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280160"/>
            <a:ext cx="3429000" cy="137160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3099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284B"/>
                </a:solidFill>
                <a:latin typeface="Calibr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783080"/>
            <a:ext cx="309981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4252"/>
                </a:solidFill>
                <a:latin typeface="Calibri"/>
              </a:rPr>
              <a:t>React (Vite), Ant Design, Leaflet maps, Recharts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280160"/>
            <a:ext cx="3429000" cy="137160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0832" y="1389888"/>
            <a:ext cx="3099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284B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1783080"/>
            <a:ext cx="309981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4252"/>
                </a:solidFill>
                <a:latin typeface="Calibri"/>
              </a:rPr>
              <a:t>FastAPI, SQLAlchemy, PuLP (ILP), SHAP, APScheduler / GitHub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280160"/>
            <a:ext cx="3730752" cy="137160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2712" y="1389888"/>
            <a:ext cx="34015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284B"/>
                </a:solidFill>
                <a:latin typeface="Calibri"/>
              </a:rPr>
              <a:t>Data &amp;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2712" y="1783080"/>
            <a:ext cx="340156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4252"/>
                </a:solidFill>
                <a:latin typeface="Calibri"/>
              </a:rPr>
              <a:t>PostgreSQL (Neon); scikit-learn, XGBoost, PyTorch; Vercel + Fly.io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834640"/>
            <a:ext cx="5577840" cy="338328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2944368"/>
            <a:ext cx="5248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Key Implementation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337560"/>
            <a:ext cx="5248656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Production model: self-training (semi-supervised) Random Forest, calibrated probabilities.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ILP recommender maximises probability-weighted threat reduction within budget and capacity.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SHAP driver panel explains every forecast; JWT + bcrypt, park-scoped auth.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Daily GitHub Actions cron keeps the database current; deployed and verified live.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Live: conserve-ai.vercel.app   |   API: conserveai-api.fly.dev/docs</a:t>
            </a:r>
          </a:p>
        </p:txBody>
      </p:sp>
      <p:pic>
        <p:nvPicPr>
          <p:cNvPr id="17" name="Picture 16" descr="app_recommen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834640"/>
            <a:ext cx="5193792" cy="28652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5080" y="5727303"/>
            <a:ext cx="51937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4284B"/>
                </a:solidFill>
                <a:latin typeface="Calibri"/>
              </a:rPr>
              <a:t>LIVE DEMO - park console: forecast, budget, zone recommendation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ConserveAI  |  Mission Capstone Defense  |  African Leadership University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5566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603504"/>
          </a:xfrm>
          <a:prstGeom prst="rect">
            <a:avLst/>
          </a:prstGeom>
          <a:solidFill>
            <a:srgbClr val="D3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84B"/>
                </a:solidFill>
                <a:latin typeface="Calibri"/>
              </a:rPr>
              <a:t>Model Selection &amp;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78992"/>
            <a:ext cx="10881360" cy="2032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20700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3A4252"/>
                </a:solidFill>
                <a:latin typeface="Calibri"/>
              </a:rPr>
              <a:t>Four architectures x supervised/semi-supervised, all against a persistence baseline. Selected: self-training Random Forest.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" y="1737360"/>
          <a:ext cx="5669280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22960"/>
                <a:gridCol w="868680"/>
                <a:gridCol w="777240"/>
                <a:gridCol w="822960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T="25400" marB="25400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Fire</a:t>
                      </a:r>
                    </a:p>
                  </a:txBody>
                  <a:tcPr marT="25400" marB="25400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Drought</a:t>
                      </a:r>
                    </a:p>
                  </a:txBody>
                  <a:tcPr marT="25400" marB="25400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Veg</a:t>
                      </a:r>
                    </a:p>
                  </a:txBody>
                  <a:tcPr marT="25400" marB="25400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Mean F2</a:t>
                      </a:r>
                    </a:p>
                  </a:txBody>
                  <a:tcPr marT="25400" marB="25400">
                    <a:solidFill>
                      <a:srgbClr val="14284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84B"/>
                          </a:solidFill>
                        </a:rPr>
                        <a:t>RF self-train (selected)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0.95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0.83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0.86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0.88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84B"/>
                          </a:solidFill>
                        </a:rPr>
                        <a:t>XGBoost self-train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0.94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0.83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0.63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0.80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84B"/>
                          </a:solidFill>
                        </a:rPr>
                        <a:t>LSTM (FixMatch)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0.92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0.71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0.57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0.74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84B"/>
                          </a:solidFill>
                        </a:rPr>
                        <a:t>Transformer (FixMatch)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0.94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0.61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0.57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0.71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84B"/>
                          </a:solidFill>
                        </a:rPr>
                        <a:t>Persistence baseline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0.78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0.35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0.71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0.61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" y="4434840"/>
            <a:ext cx="5669280" cy="178308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4544568"/>
            <a:ext cx="53400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Benchmark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937760"/>
            <a:ext cx="534009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>
                <a:solidFill>
                  <a:srgbClr val="3A4252"/>
                </a:solidFill>
                <a:latin typeface="Calibri"/>
              </a:rPr>
              <a:t>•  Beats the baseline on every threat - by a wide margin on drought (0.83 vs 0.35).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>
                <a:solidFill>
                  <a:srgbClr val="3A4252"/>
                </a:solidFill>
                <a:latin typeface="Calibri"/>
              </a:rPr>
              <a:t>•  Tree models beat deep models when events are scarce (literature-consistent).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>
                <a:solidFill>
                  <a:srgbClr val="3A4252"/>
                </a:solidFill>
                <a:latin typeface="Calibri"/>
              </a:rPr>
              <a:t>•  Semi-supervision helped only RF (+0.02) and Transformer (+0.02); it hurt XGBoost and LSTM - reported honestly.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737360"/>
            <a:ext cx="5120640" cy="228600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847088"/>
            <a:ext cx="47914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Modality ablation (RQ1)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240280"/>
            <a:ext cx="47914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>
                <a:solidFill>
                  <a:srgbClr val="3A4252"/>
                </a:solidFill>
                <a:latin typeface="Calibri"/>
              </a:rPr>
              <a:t>•  Fused (all): mean F2 0.872 - best overall.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>
                <a:solidFill>
                  <a:srgbClr val="3A4252"/>
                </a:solidFill>
                <a:latin typeface="Calibri"/>
              </a:rPr>
              <a:t>•  Climate only 0.856  |  Satellite (NDVI) 0.821  |  Fire history 0.797.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00">
                <a:solidFill>
                  <a:srgbClr val="3A4252"/>
                </a:solidFill>
                <a:latin typeface="Calibri"/>
              </a:rPr>
              <a:t>•  Each threat is best on its own modality, so fusion buys breadth, not per-threat optimality.</a:t>
            </a:r>
          </a:p>
        </p:txBody>
      </p:sp>
      <p:pic>
        <p:nvPicPr>
          <p:cNvPr id="13" name="Picture 12" descr="mode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160520"/>
            <a:ext cx="5120640" cy="20011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6520" y="6189121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4284B"/>
                </a:solidFill>
                <a:latin typeface="Calibri"/>
              </a:rPr>
              <a:t>Held-out evaluation (n = 4,206)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ConserveAI  |  Mission Capstone Defense  |  African Leadership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5566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603504"/>
          </a:xfrm>
          <a:prstGeom prst="rect">
            <a:avLst/>
          </a:prstGeom>
          <a:solidFill>
            <a:srgbClr val="D3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84B"/>
                </a:solidFill>
                <a:latin typeface="Calibri"/>
              </a:rPr>
              <a:t>Testing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78992"/>
            <a:ext cx="10881360" cy="2032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280160"/>
            <a:ext cx="2606040" cy="105156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22768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284B"/>
                </a:solidFill>
                <a:latin typeface="Calibri"/>
              </a:rPr>
              <a:t>Unit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783080"/>
            <a:ext cx="2276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252"/>
                </a:solidFill>
                <a:latin typeface="Calibri"/>
              </a:rPr>
              <a:t>19 pytest (optimiser + auth)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80160"/>
            <a:ext cx="2606040" cy="105156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389888"/>
            <a:ext cx="22768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284B"/>
                </a:solidFill>
                <a:latin typeface="Calibri"/>
              </a:rPr>
              <a:t>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1783080"/>
            <a:ext cx="2276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252"/>
                </a:solidFill>
                <a:latin typeface="Calibri"/>
              </a:rPr>
              <a:t>Live API endpoints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280160"/>
            <a:ext cx="2606040" cy="105156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389888"/>
            <a:ext cx="22768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284B"/>
                </a:solidFill>
                <a:latin typeface="Calibri"/>
              </a:rPr>
              <a:t>System / E2E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83080"/>
            <a:ext cx="2276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252"/>
                </a:solidFill>
                <a:latin typeface="Calibri"/>
              </a:rPr>
              <a:t>Browser user journey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280160"/>
            <a:ext cx="2606040" cy="105156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1389888"/>
            <a:ext cx="22768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4284B"/>
                </a:solidFill>
                <a:latin typeface="Calibri"/>
              </a:rPr>
              <a:t>Model 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0848" y="1783080"/>
            <a:ext cx="22768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4252"/>
                </a:solidFill>
                <a:latin typeface="Calibri"/>
              </a:rPr>
              <a:t>Held-out 2024-2025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21792" y="2606040"/>
          <a:ext cx="562356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463040"/>
                <a:gridCol w="1737360"/>
                <a:gridCol w="868680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T="25400" marB="25400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 marT="25400" marB="25400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Achieved</a:t>
                      </a:r>
                    </a:p>
                  </a:txBody>
                  <a:tcPr marT="25400" marB="25400">
                    <a:solidFill>
                      <a:srgbClr val="142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14284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84B"/>
                          </a:solidFill>
                        </a:rPr>
                        <a:t>Fire F2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&gt;= 0.90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0.95 (AUC 0.98)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Pass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84B"/>
                          </a:solidFill>
                        </a:rPr>
                        <a:t>Drought F2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beat baseline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0.83 (base 0.35)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Pass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84B"/>
                          </a:solidFill>
                        </a:rPr>
                        <a:t>Vegetation F2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&gt;= 0.80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0.86 (AUC 0.98)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Pass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84B"/>
                          </a:solidFill>
                        </a:rPr>
                        <a:t>Unit tests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all pass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19 / 19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Pass</a:t>
                      </a:r>
                    </a:p>
                  </a:txBody>
                  <a:tcPr marT="25400" marB="25400">
                    <a:solidFill>
                      <a:srgbClr val="F1F4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4284B"/>
                          </a:solidFill>
                        </a:rPr>
                        <a:t>Cloud latency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&lt; 1 s warm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0.27 s forecast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A4252"/>
                          </a:solidFill>
                        </a:rPr>
                        <a:t>Pass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21792" y="580644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A4252"/>
                </a:solidFill>
                <a:latin typeface="Calibri"/>
              </a:rPr>
              <a:t>Validation: strict temporal train/test split, persistence baseline, bootstrap CIs.</a:t>
            </a:r>
          </a:p>
        </p:txBody>
      </p:sp>
      <p:pic>
        <p:nvPicPr>
          <p:cNvPr id="19" name="Picture 18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697480"/>
            <a:ext cx="5120640" cy="187014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46520" y="459505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4284B"/>
                </a:solidFill>
                <a:latin typeface="Calibri"/>
              </a:rPr>
              <a:t>Confusion matrices - held-out test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ConserveAI  |  Mission Capstone Defense  |  African Leadership University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5566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603504"/>
          </a:xfrm>
          <a:prstGeom prst="rect">
            <a:avLst/>
          </a:prstGeom>
          <a:solidFill>
            <a:srgbClr val="D3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84B"/>
                </a:solidFill>
                <a:latin typeface="Calibri"/>
              </a:rPr>
              <a:t>Results, Analysis &amp; Real-World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78992"/>
            <a:ext cx="10881360" cy="2032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280160"/>
            <a:ext cx="5577840" cy="214884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89888"/>
            <a:ext cx="5248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Main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783080"/>
            <a:ext cx="524865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Live, deployed system; F2 0.95 / 0.83 / 0.86, ROC-AUC &gt; 0.96 on all three threats.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Recommender scales the plan with budget and never exceeds it; solves in &lt; 60 ms.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Runs unattended via a daily cron - verified end-to-end against the live URLs.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3611880"/>
            <a:ext cx="5577840" cy="137160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721608"/>
            <a:ext cx="5248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Per-park &amp; ecosystem (fairness)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4114800"/>
            <a:ext cx="524865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4252"/>
                </a:solidFill>
                <a:latin typeface="Calibri"/>
              </a:rPr>
              <a:t>Reliability varies by ecosystem: mean F2 0.96 (Sahel) -&gt; 0.77 (rainforest). Reported per park with 95% CIs so the model cannot silently under-serve one park 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5120640"/>
            <a:ext cx="5577840" cy="109728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230368"/>
            <a:ext cx="5248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Iterative real-world 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5623560"/>
            <a:ext cx="524865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4252"/>
                </a:solidFill>
                <a:latin typeface="Calibri"/>
              </a:rPr>
              <a:t>Diagnosed a degenerate vegetation output live, moved training + serving to the MOD13Q1 composite: vegetation ROC-AUC 0.77 -&gt; 0.98.</a:t>
            </a:r>
          </a:p>
        </p:txBody>
      </p:sp>
      <p:pic>
        <p:nvPicPr>
          <p:cNvPr id="14" name="Picture 13" descr="veg_seas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371600"/>
            <a:ext cx="5120640" cy="235894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6520" y="375797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4284B"/>
                </a:solidFill>
                <a:latin typeface="Calibri"/>
              </a:rPr>
              <a:t>Vegetation risk over 12 months - seasonal, not constant</a:t>
            </a:r>
          </a:p>
        </p:txBody>
      </p:sp>
      <p:pic>
        <p:nvPicPr>
          <p:cNvPr id="16" name="Picture 15" descr="budget_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4114800"/>
            <a:ext cx="3657600" cy="196132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78040" y="6103553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4284B"/>
                </a:solidFill>
                <a:latin typeface="Calibri"/>
              </a:rPr>
              <a:t>Recommender scales with budget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ConserveAI  |  Mission Capstone Defense  |  African Leadership University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5566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84048"/>
            <a:ext cx="82296" cy="603504"/>
          </a:xfrm>
          <a:prstGeom prst="rect">
            <a:avLst/>
          </a:prstGeom>
          <a:solidFill>
            <a:srgbClr val="D3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10896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4284B"/>
                </a:solidFill>
                <a:latin typeface="Calibri"/>
              </a:rPr>
              <a:t>Conclusion, Ethics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78992"/>
            <a:ext cx="10881360" cy="20320"/>
          </a:xfrm>
          <a:prstGeom prst="rect">
            <a:avLst/>
          </a:prstGeom>
          <a:solidFill>
            <a:srgbClr val="DDE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1325880"/>
            <a:ext cx="5349240" cy="237744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35608"/>
            <a:ext cx="50200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828800"/>
            <a:ext cx="50200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Met the main objective: a live, transparent decision-support system from open data alone.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Self-training RF beat the baseline on all three threats; strongest on fire and vegetation.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Contribution is methodological: open data -&gt; forecast -&gt; costed plan -&gt; explanation, running unattended.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349240" cy="237744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435608"/>
            <a:ext cx="50200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Ethics &amp; Responsible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828800"/>
            <a:ext cx="502005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Decision support, not automation - the human retains the decision (NDPA Section 37).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Per-park fairness reporting; no individual or community data collected.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250">
                <a:solidFill>
                  <a:srgbClr val="3A4252"/>
                </a:solidFill>
                <a:latin typeface="Calibri"/>
              </a:rPr>
              <a:t>•  SHAP transparency; EULA + Privacy Policy in-app; ethics review submitted before any pilot.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3886200"/>
            <a:ext cx="10927080" cy="2331720"/>
          </a:xfrm>
          <a:prstGeom prst="roundRect">
            <a:avLst/>
          </a:prstGeom>
          <a:solidFill>
            <a:srgbClr val="EC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995928"/>
            <a:ext cx="10597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D31A38"/>
                </a:solidFill>
                <a:latin typeface="Calibri"/>
              </a:rP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4389120"/>
            <a:ext cx="1059789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Replace climate-derived drought/vegetation labels with independent ground truth (removes label-leakage risk).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Add a Sentinel-1 radar backup that sees through cloud, plus a low-confidence flag when coverage is poor.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Add deployment logging so the system learns from real field outcomes; make the optimiser intervention-aware and multi-period.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300">
                <a:solidFill>
                  <a:srgbClr val="3A4252"/>
                </a:solidFill>
                <a:latin typeface="Calibri"/>
              </a:rPr>
              <a:t>•  Widen the threat set toward poaching and grazing using ranger patrol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55664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ConserveAI  |  Mission Capstone Defense  |  African Leadership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55664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468880"/>
            <a:ext cx="109728" cy="1828800"/>
          </a:xfrm>
          <a:prstGeom prst="rect">
            <a:avLst/>
          </a:prstGeom>
          <a:solidFill>
            <a:srgbClr val="D31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C7D0E0"/>
                </a:solidFill>
                <a:latin typeface="Calibri"/>
              </a:rPr>
              <a:t>Questions &amp;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8EE4C0"/>
                </a:solidFill>
                <a:latin typeface="Calibri"/>
              </a:rPr>
              <a:t>ConserveAI  -  conserve-ai.vercel.app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C7D0E0"/>
                </a:solidFill>
                <a:latin typeface="Calibri"/>
              </a:rPr>
              <a:t>Fadhlullah Olusola Abdulazeez  |  Supervisor: Mr. Emmanuel Adjei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