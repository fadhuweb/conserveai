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One sentence: ConserveAI forecasts fire, drought and vegetation threats for six Nigerian parks and turns each forecast into a costed plan of what to deploy and where. It is deployed and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Set the stakes with the proposal's numbers: steep wildlife decline, almost no management evaluation, reactive and under-resourced patrols, and too little data for conventional ML. Existing tools (SMART, PAWS) do not fit.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methodological gap: prediction stops at a risk map, threats are modelled in isolation, labels are scarce, and nobody links a multi-threat forecast to a live budget-constrained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What we offer maps one-to-one onto the gap: free-data multi-threat forecasts, semi-supervised learning for sparse labels, an ILP that turns a forecast into a zone-level plan, and explainability plus live operation.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the pipeline left to right, top to bottom. Phase 1 trains the model once on 2020-2025 data; Phase 2 serves it live. Stress the temporal split (train on the past, test on genuinely future data) and Platt calibration.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These are the dashboard features a manager actually uses. If time allows, switch to the live site and click through national overview, a park forecast, and the recommender.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Emphasise this is a running product, not a notebook: deployed end to end, automated daily, and covered by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Lead with the F2 headline cards, then the full table: ROC-AUC is high across the board (0.98 fire, 0.97 drought), precision and recall round out the picture. Explain F2 in a line. Note the recommender is correct and fast.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Present these as deliberate, known limitations. Inviting direction on label leakage and threat scope shows maturity.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55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4206240"/>
            <a:ext cx="4114800" cy="4114800"/>
          </a:xfrm>
          <a:prstGeom prst="ellipse">
            <a:avLst/>
          </a:prstGeom>
          <a:solidFill>
            <a:srgbClr val="155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280160"/>
            <a:ext cx="1371600" cy="384048"/>
          </a:xfrm>
          <a:prstGeom prst="roundRect">
            <a:avLst/>
          </a:prstGeom>
          <a:solidFill>
            <a:srgbClr val="155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" y="132588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B981"/>
                </a:solidFill>
                <a:latin typeface="Calibri" panose="020F0502020204030204"/>
              </a:rPr>
              <a:t>● LIVE</a:t>
            </a:r>
            <a:endParaRPr sz="1100" b="1" i="0">
              <a:solidFill>
                <a:srgbClr val="10B981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800" b="1" i="0">
                <a:solidFill>
                  <a:srgbClr val="FFFFFF"/>
                </a:solidFill>
                <a:latin typeface="Calibri" panose="020F0502020204030204"/>
              </a:rPr>
              <a:t>ConserveAI</a:t>
            </a:r>
            <a:endParaRPr sz="58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68680" y="3108960"/>
            <a:ext cx="1463040" cy="635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383280"/>
            <a:ext cx="102412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CFE4D8"/>
                </a:solidFill>
                <a:latin typeface="Calibri" panose="020F0502020204030204"/>
              </a:rPr>
              <a:t>Multi-threat probabilistic forecasting and budget-constrained intervention recommendation for six Nigerian national parks</a:t>
            </a:r>
            <a:endParaRPr sz="2000" b="0" i="0">
              <a:solidFill>
                <a:srgbClr val="CFE4D8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60" y="544068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A9C6B8"/>
                </a:solidFill>
                <a:latin typeface="Calibri" panose="020F0502020204030204"/>
              </a:rPr>
              <a:t>Fadhlullah Olusola Abdulazeez   ·   BSc Software Engineering   ·   Supervisor: Mr. Emmanuel Adjei</a:t>
            </a:r>
            <a:endParaRPr sz="1400" b="0" i="0">
              <a:solidFill>
                <a:srgbClr val="A9C6B8"/>
              </a:solidFill>
              <a:latin typeface="Calibri" panose="020F0502020204030204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0B981"/>
                </a:solidFill>
                <a:latin typeface="Calibri" panose="020F0502020204030204"/>
              </a:rPr>
              <a:t>Live demo:  conserve-ai.vercel.app</a:t>
            </a:r>
            <a:endParaRPr sz="1400" b="1" i="0">
              <a:solidFill>
                <a:srgbClr val="10B981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F3D2E"/>
                </a:solidFill>
                <a:latin typeface="Calibri" panose="020F0502020204030204"/>
              </a:rPr>
              <a:t>The problem</a:t>
            </a:r>
            <a:endParaRPr sz="2900" b="1" i="0">
              <a:solidFill>
                <a:srgbClr val="0F3D2E"/>
              </a:solidFill>
              <a:latin typeface="Calibri" panose="020F050202020403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94360" y="1024128"/>
            <a:ext cx="777240" cy="444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5400"/>
          </a:xfrm>
          <a:prstGeom prst="rect">
            <a:avLst/>
          </a:prstGeom>
          <a:solidFill>
            <a:srgbClr val="F2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9C6B8"/>
                </a:solidFill>
                <a:latin typeface="Calibri" panose="020F0502020204030204"/>
              </a:rPr>
              <a:t>ConserveAI  ·  Capstone progress update</a:t>
            </a:r>
            <a:endParaRPr sz="1000" b="0" i="0">
              <a:solidFill>
                <a:srgbClr val="A9C6B8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9C6B8"/>
                </a:solidFill>
                <a:latin typeface="Calibri" panose="020F0502020204030204"/>
              </a:rPr>
              <a:t>2 / 9</a:t>
            </a:r>
            <a:endParaRPr sz="1000" b="0" i="0">
              <a:solidFill>
                <a:srgbClr val="A9C6B8"/>
              </a:solidFill>
              <a:latin typeface="Calibri" panose="020F0502020204030204"/>
            </a:endParaRPr>
          </a:p>
        </p:txBody>
      </p:sp>
      <p:sp>
        <p:nvSpPr>
          <p:cNvPr id="8" name="Oval 7"/>
          <p:cNvSpPr/>
          <p:nvPr/>
        </p:nvSpPr>
        <p:spPr>
          <a:xfrm>
            <a:off x="640080" y="1517904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46304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F3D2E"/>
                </a:solidFill>
                <a:latin typeface="Calibri" panose="020F0502020204030204"/>
              </a:rPr>
              <a:t>Nigerian parks are losing wildlife fast.</a:t>
            </a:r>
            <a:endParaRPr sz="1800" b="1" i="0">
              <a:solidFill>
                <a:srgbClr val="0F3D2E"/>
              </a:solidFill>
              <a:latin typeface="Calibri" panose="020F0502020204030204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F2A37"/>
                </a:solidFill>
                <a:latin typeface="Calibri" panose="020F0502020204030204"/>
              </a:rPr>
              <a:t>African protected areas lost on average 59% of large mammals between 1970 and 2005, and only 1.71% of Nigeria's protected land has ever had its management evaluated.</a:t>
            </a:r>
            <a:endParaRPr sz="1450" b="0" i="0">
              <a:solidFill>
                <a:srgbClr val="1F2A37"/>
              </a:solidFill>
              <a:latin typeface="Calibri" panose="020F0502020204030204"/>
            </a:endParaRPr>
          </a:p>
        </p:txBody>
      </p:sp>
      <p:sp>
        <p:nvSpPr>
          <p:cNvPr id="10" name="Oval 9"/>
          <p:cNvSpPr/>
          <p:nvPr/>
        </p:nvSpPr>
        <p:spPr>
          <a:xfrm>
            <a:off x="640080" y="2706624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651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F3D2E"/>
                </a:solidFill>
                <a:latin typeface="Calibri" panose="020F0502020204030204"/>
              </a:rPr>
              <a:t>Management is reactive and thinly stretched.</a:t>
            </a:r>
            <a:endParaRPr sz="1800" b="1" i="0">
              <a:solidFill>
                <a:srgbClr val="0F3D2E"/>
              </a:solidFill>
              <a:latin typeface="Calibri" panose="020F0502020204030204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F2A37"/>
                </a:solidFill>
                <a:latin typeface="Calibri" panose="020F0502020204030204"/>
              </a:rPr>
              <a:t>Threats are recorded after the damage by patrols that cover little ground (Yankari has about 60 rangers for 2,244 km square).</a:t>
            </a:r>
            <a:endParaRPr sz="1450" b="0" i="0">
              <a:solidFill>
                <a:srgbClr val="1F2A37"/>
              </a:solidFill>
              <a:latin typeface="Calibri" panose="020F0502020204030204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640080" y="3895344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8404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F3D2E"/>
                </a:solidFill>
                <a:latin typeface="Calibri" panose="020F0502020204030204"/>
              </a:rPr>
              <a:t>There is too little data to train on.</a:t>
            </a:r>
            <a:endParaRPr sz="1800" b="1" i="0">
              <a:solidFill>
                <a:srgbClr val="0F3D2E"/>
              </a:solidFill>
              <a:latin typeface="Calibri" panose="020F0502020204030204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F2A37"/>
                </a:solidFill>
                <a:latin typeface="Calibri" panose="020F0502020204030204"/>
              </a:rPr>
              <a:t>Fewer than 300 biodiversity records exist per Nigerian park, so conventional supervised machine learning cannot be trained reliably.</a:t>
            </a:r>
            <a:endParaRPr sz="1450" b="0" i="0">
              <a:solidFill>
                <a:srgbClr val="1F2A37"/>
              </a:solidFill>
              <a:latin typeface="Calibri" panose="020F0502020204030204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640080" y="5084064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502920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F3D2E"/>
                </a:solidFill>
                <a:latin typeface="Calibri" panose="020F0502020204030204"/>
              </a:rPr>
              <a:t>Existing tools do not fit.</a:t>
            </a:r>
            <a:endParaRPr sz="1800" b="1" i="0">
              <a:solidFill>
                <a:srgbClr val="0F3D2E"/>
              </a:solidFill>
              <a:latin typeface="Calibri" panose="020F0502020204030204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F2A37"/>
                </a:solidFill>
                <a:latin typeface="Calibri" panose="020F0502020204030204"/>
              </a:rPr>
              <a:t>SMART only records the past; PAWS forecasts poaching but needs incident histories these parks lack. Neither handles fire, drought or vegetation, and neither plans a budget.</a:t>
            </a:r>
            <a:endParaRPr sz="1450" b="0" i="0">
              <a:solidFill>
                <a:srgbClr val="1F2A37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F3D2E"/>
                </a:solidFill>
                <a:latin typeface="Calibri" panose="020F0502020204030204"/>
              </a:rPr>
              <a:t>The ML gap</a:t>
            </a:r>
            <a:endParaRPr sz="2900" b="1" i="0">
              <a:solidFill>
                <a:srgbClr val="0F3D2E"/>
              </a:solidFill>
              <a:latin typeface="Calibri" panose="020F050202020403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94360" y="1024128"/>
            <a:ext cx="777240" cy="444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5400"/>
          </a:xfrm>
          <a:prstGeom prst="rect">
            <a:avLst/>
          </a:prstGeom>
          <a:solidFill>
            <a:srgbClr val="F2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9C6B8"/>
                </a:solidFill>
                <a:latin typeface="Calibri" panose="020F0502020204030204"/>
              </a:rPr>
              <a:t>ConserveAI  ·  Capstone progress update</a:t>
            </a:r>
            <a:endParaRPr sz="1000" b="0" i="0">
              <a:solidFill>
                <a:srgbClr val="A9C6B8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9C6B8"/>
                </a:solidFill>
                <a:latin typeface="Calibri" panose="020F0502020204030204"/>
              </a:rPr>
              <a:t>3 / 9</a:t>
            </a:r>
            <a:endParaRPr sz="1000" b="0" i="0">
              <a:solidFill>
                <a:srgbClr val="A9C6B8"/>
              </a:solidFill>
              <a:latin typeface="Calibri" panose="020F0502020204030204"/>
            </a:endParaRPr>
          </a:p>
        </p:txBody>
      </p:sp>
      <p:sp>
        <p:nvSpPr>
          <p:cNvPr id="8" name="Oval 7"/>
          <p:cNvSpPr/>
          <p:nvPr/>
        </p:nvSpPr>
        <p:spPr>
          <a:xfrm>
            <a:off x="640080" y="1517904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46304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F3D2E"/>
                </a:solidFill>
                <a:latin typeface="Calibri" panose="020F0502020204030204"/>
              </a:rPr>
              <a:t>Prediction stops at a risk map.</a:t>
            </a:r>
            <a:endParaRPr sz="1800" b="1" i="0">
              <a:solidFill>
                <a:srgbClr val="0F3D2E"/>
              </a:solidFill>
              <a:latin typeface="Calibri" panose="020F0502020204030204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F2A37"/>
                </a:solidFill>
                <a:latin typeface="Calibri" panose="020F0502020204030204"/>
              </a:rPr>
              <a:t>Models output risk and stop. They do not say what to deploy, where, or within a budget.</a:t>
            </a:r>
            <a:endParaRPr sz="1450" b="0" i="0">
              <a:solidFill>
                <a:srgbClr val="1F2A37"/>
              </a:solidFill>
              <a:latin typeface="Calibri" panose="020F0502020204030204"/>
            </a:endParaRPr>
          </a:p>
        </p:txBody>
      </p:sp>
      <p:sp>
        <p:nvSpPr>
          <p:cNvPr id="10" name="Oval 9"/>
          <p:cNvSpPr/>
          <p:nvPr/>
        </p:nvSpPr>
        <p:spPr>
          <a:xfrm>
            <a:off x="640080" y="2706624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651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F3D2E"/>
                </a:solidFill>
                <a:latin typeface="Calibri" panose="020F0502020204030204"/>
              </a:rPr>
              <a:t>Threats are studied in isolation.</a:t>
            </a:r>
            <a:endParaRPr sz="1800" b="1" i="0">
              <a:solidFill>
                <a:srgbClr val="0F3D2E"/>
              </a:solidFill>
              <a:latin typeface="Calibri" panose="020F0502020204030204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F2A37"/>
                </a:solidFill>
                <a:latin typeface="Calibri" panose="020F0502020204030204"/>
              </a:rPr>
              <a:t>Fire, drought and vegetation are modelled separately, yet one park faces all three under a single budget.</a:t>
            </a:r>
            <a:endParaRPr sz="1450" b="0" i="0">
              <a:solidFill>
                <a:srgbClr val="1F2A37"/>
              </a:solidFill>
              <a:latin typeface="Calibri" panose="020F0502020204030204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640080" y="3895344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8404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F3D2E"/>
                </a:solidFill>
                <a:latin typeface="Calibri" panose="020F0502020204030204"/>
              </a:rPr>
              <a:t>Sparse labels block supervised learning.</a:t>
            </a:r>
            <a:endParaRPr sz="1800" b="1" i="0">
              <a:solidFill>
                <a:srgbClr val="0F3D2E"/>
              </a:solidFill>
              <a:latin typeface="Calibri" panose="020F0502020204030204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F2A37"/>
                </a:solidFill>
                <a:latin typeface="Calibri" panose="020F0502020204030204"/>
              </a:rPr>
              <a:t>Documented threat events are rare and uneven, so standard supervised training is unreliable in this setting.</a:t>
            </a:r>
            <a:endParaRPr sz="1450" b="0" i="0">
              <a:solidFill>
                <a:srgbClr val="1F2A37"/>
              </a:solidFill>
              <a:latin typeface="Calibri" panose="020F0502020204030204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640080" y="5084064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502920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F3D2E"/>
                </a:solidFill>
                <a:latin typeface="Calibri" panose="020F0502020204030204"/>
              </a:rPr>
              <a:t>No one links forecast to decision, live.</a:t>
            </a:r>
            <a:endParaRPr sz="1800" b="1" i="0">
              <a:solidFill>
                <a:srgbClr val="0F3D2E"/>
              </a:solidFill>
              <a:latin typeface="Calibri" panose="020F0502020204030204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F2A37"/>
                </a:solidFill>
                <a:latin typeface="Calibri" panose="020F0502020204030204"/>
              </a:rPr>
              <a:t>No published system couples multi-threat forecasting with budget-constrained, zone-level recommendation, running live for a data-scarce park.</a:t>
            </a:r>
            <a:endParaRPr sz="1450" b="0" i="0">
              <a:solidFill>
                <a:srgbClr val="1F2A37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F3D2E"/>
                </a:solidFill>
                <a:latin typeface="Calibri" panose="020F0502020204030204"/>
              </a:rPr>
              <a:t>What our solution offers</a:t>
            </a:r>
            <a:endParaRPr sz="2900" b="1" i="0">
              <a:solidFill>
                <a:srgbClr val="0F3D2E"/>
              </a:solidFill>
              <a:latin typeface="Calibri" panose="020F050202020403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94360" y="1024128"/>
            <a:ext cx="777240" cy="444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5400"/>
          </a:xfrm>
          <a:prstGeom prst="rect">
            <a:avLst/>
          </a:prstGeom>
          <a:solidFill>
            <a:srgbClr val="F2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9C6B8"/>
                </a:solidFill>
                <a:latin typeface="Calibri" panose="020F0502020204030204"/>
              </a:rPr>
              <a:t>ConserveAI  ·  Capstone progress update</a:t>
            </a:r>
            <a:endParaRPr sz="1000" b="0" i="0">
              <a:solidFill>
                <a:srgbClr val="A9C6B8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9C6B8"/>
                </a:solidFill>
                <a:latin typeface="Calibri" panose="020F0502020204030204"/>
              </a:rPr>
              <a:t>4 / 9</a:t>
            </a:r>
            <a:endParaRPr sz="1000" b="0" i="0">
              <a:solidFill>
                <a:srgbClr val="A9C6B8"/>
              </a:solidFill>
              <a:latin typeface="Calibri" panose="020F0502020204030204"/>
            </a:endParaRPr>
          </a:p>
        </p:txBody>
      </p:sp>
      <p:sp>
        <p:nvSpPr>
          <p:cNvPr id="8" name="Oval 7"/>
          <p:cNvSpPr/>
          <p:nvPr/>
        </p:nvSpPr>
        <p:spPr>
          <a:xfrm>
            <a:off x="640080" y="1517904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46304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F3D2E"/>
                </a:solidFill>
                <a:latin typeface="Calibri" panose="020F0502020204030204"/>
              </a:rPr>
              <a:t>Multi-threat 30-day forecasts from free data.</a:t>
            </a:r>
            <a:endParaRPr sz="1800" b="1" i="0">
              <a:solidFill>
                <a:srgbClr val="0F3D2E"/>
              </a:solidFill>
              <a:latin typeface="Calibri" panose="020F0502020204030204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F2A37"/>
                </a:solidFill>
                <a:latin typeface="Calibri" panose="020F0502020204030204"/>
              </a:rPr>
              <a:t>Daily fire, drought and vegetation risk for six parks, built on Open-Meteo, NASA POWER, Google Earth Engine and MODIS fire products.</a:t>
            </a:r>
            <a:endParaRPr sz="1450" b="0" i="0">
              <a:solidFill>
                <a:srgbClr val="1F2A37"/>
              </a:solidFill>
              <a:latin typeface="Calibri" panose="020F0502020204030204"/>
            </a:endParaRPr>
          </a:p>
        </p:txBody>
      </p:sp>
      <p:sp>
        <p:nvSpPr>
          <p:cNvPr id="10" name="Oval 9"/>
          <p:cNvSpPr/>
          <p:nvPr/>
        </p:nvSpPr>
        <p:spPr>
          <a:xfrm>
            <a:off x="640080" y="2706624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651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F3D2E"/>
                </a:solidFill>
                <a:latin typeface="Calibri" panose="020F0502020204030204"/>
              </a:rPr>
              <a:t>Learning that works with few labels.</a:t>
            </a:r>
            <a:endParaRPr sz="1800" b="1" i="0">
              <a:solidFill>
                <a:srgbClr val="0F3D2E"/>
              </a:solidFill>
              <a:latin typeface="Calibri" panose="020F0502020204030204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F2A37"/>
                </a:solidFill>
                <a:latin typeface="Calibri" panose="020F0502020204030204"/>
              </a:rPr>
              <a:t>Hybrid labeling plus a self-training semi-supervised model exploit the abundant unlabelled park-days.</a:t>
            </a:r>
            <a:endParaRPr sz="1450" b="0" i="0">
              <a:solidFill>
                <a:srgbClr val="1F2A37"/>
              </a:solidFill>
              <a:latin typeface="Calibri" panose="020F0502020204030204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640080" y="3895344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8404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F3D2E"/>
                </a:solidFill>
                <a:latin typeface="Calibri" panose="020F0502020204030204"/>
              </a:rPr>
              <a:t>A plan, not just a prediction.</a:t>
            </a:r>
            <a:endParaRPr sz="1800" b="1" i="0">
              <a:solidFill>
                <a:srgbClr val="0F3D2E"/>
              </a:solidFill>
              <a:latin typeface="Calibri" panose="020F0502020204030204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F2A37"/>
                </a:solidFill>
                <a:latin typeface="Calibri" panose="020F0502020204030204"/>
              </a:rPr>
              <a:t>A budget-constrained integer linear program returns the intervention mix that cuts the most risk, allocated across four zones per park.</a:t>
            </a:r>
            <a:endParaRPr sz="1450" b="0" i="0">
              <a:solidFill>
                <a:srgbClr val="1F2A37"/>
              </a:solidFill>
              <a:latin typeface="Calibri" panose="020F0502020204030204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640080" y="5084064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502920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F3D2E"/>
                </a:solidFill>
                <a:latin typeface="Calibri" panose="020F0502020204030204"/>
              </a:rPr>
              <a:t>Explainable and live.</a:t>
            </a:r>
            <a:endParaRPr sz="1800" b="1" i="0">
              <a:solidFill>
                <a:srgbClr val="0F3D2E"/>
              </a:solidFill>
              <a:latin typeface="Calibri" panose="020F0502020204030204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F2A37"/>
                </a:solidFill>
                <a:latin typeface="Calibri" panose="020F0502020204030204"/>
              </a:rPr>
              <a:t>Per-threat drivers justify each forecast, and a daily scheduled pipeline keeps the dashboard current without manual steps.</a:t>
            </a:r>
            <a:endParaRPr sz="1450" b="0" i="0">
              <a:solidFill>
                <a:srgbClr val="1F2A37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F3D2E"/>
                </a:solidFill>
                <a:latin typeface="Calibri" panose="020F0502020204030204"/>
              </a:rPr>
              <a:t>Machine-learning pipeline</a:t>
            </a:r>
            <a:endParaRPr sz="2900" b="1" i="0">
              <a:solidFill>
                <a:srgbClr val="0F3D2E"/>
              </a:solidFill>
              <a:latin typeface="Calibri" panose="020F050202020403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94360" y="1024128"/>
            <a:ext cx="777240" cy="444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556577"/>
                </a:solidFill>
                <a:latin typeface="Calibri" panose="020F0502020204030204"/>
              </a:rPr>
              <a:t>From free satellite and climate data to a calibrated 30-day forecast and a costed plan.</a:t>
            </a:r>
            <a:endParaRPr sz="1300" b="0" i="1">
              <a:solidFill>
                <a:srgbClr val="556577"/>
              </a:solidFill>
              <a:latin typeface="Calibri" panose="020F050202020403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5400"/>
          </a:xfrm>
          <a:prstGeom prst="rect">
            <a:avLst/>
          </a:prstGeom>
          <a:solidFill>
            <a:srgbClr val="F2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9C6B8"/>
                </a:solidFill>
                <a:latin typeface="Calibri" panose="020F0502020204030204"/>
              </a:rPr>
              <a:t>ConserveAI  ·  Capstone progress update</a:t>
            </a:r>
            <a:endParaRPr sz="1000" b="0" i="0">
              <a:solidFill>
                <a:srgbClr val="A9C6B8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9C6B8"/>
                </a:solidFill>
                <a:latin typeface="Calibri" panose="020F0502020204030204"/>
              </a:rPr>
              <a:t>5 / 9</a:t>
            </a:r>
            <a:endParaRPr sz="1000" b="0" i="0">
              <a:solidFill>
                <a:srgbClr val="A9C6B8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66928" y="160020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0B981"/>
                </a:solidFill>
                <a:latin typeface="Calibri" panose="020F0502020204030204"/>
              </a:rPr>
              <a:t>PHASE 1  ·  TRAIN</a:t>
            </a:r>
            <a:endParaRPr sz="1200" b="1" i="0">
              <a:solidFill>
                <a:srgbClr val="10B981"/>
              </a:solidFill>
              <a:latin typeface="Calibri" panose="020F050202020403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02920" y="1965960"/>
            <a:ext cx="2103120" cy="1097280"/>
          </a:xfrm>
          <a:prstGeom prst="round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 panose="020F0502020204030204"/>
              </a:rPr>
              <a:t>Free data</a:t>
            </a:r>
            <a:endParaRPr sz="1250" b="1">
              <a:solidFill>
                <a:srgbClr val="FFFFFF"/>
              </a:solidFill>
              <a:latin typeface="Calibri" panose="020F0502020204030204"/>
            </a:endParaRP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CFE4D8"/>
                </a:solidFill>
                <a:latin typeface="Calibri" panose="020F0502020204030204"/>
              </a:rPr>
              <a:t>Open-Meteo, NASA
POWER, GEE, MODIS</a:t>
            </a:r>
            <a:endParaRPr sz="850">
              <a:solidFill>
                <a:srgbClr val="CFE4D8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569464" y="237744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0B981"/>
                </a:solidFill>
                <a:latin typeface="Calibri" panose="020F0502020204030204"/>
              </a:rPr>
              <a:t>▶</a:t>
            </a:r>
            <a:endParaRPr sz="1400" b="0" i="0">
              <a:solidFill>
                <a:srgbClr val="10B981"/>
              </a:solidFill>
              <a:latin typeface="Calibri" panose="020F050202020403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834640" y="1965960"/>
            <a:ext cx="2103120" cy="1097280"/>
          </a:xfrm>
          <a:prstGeom prst="round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 panose="020F0502020204030204"/>
              </a:rPr>
              <a:t>Feature eng.</a:t>
            </a:r>
            <a:endParaRPr sz="1250" b="1">
              <a:solidFill>
                <a:srgbClr val="FFFFFF"/>
              </a:solidFill>
              <a:latin typeface="Calibri" panose="020F0502020204030204"/>
            </a:endParaRP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CFE4D8"/>
                </a:solidFill>
                <a:latin typeface="Calibri" panose="020F0502020204030204"/>
              </a:rPr>
              <a:t>20 features
per park-day</a:t>
            </a:r>
            <a:endParaRPr sz="850">
              <a:solidFill>
                <a:srgbClr val="CFE4D8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901184" y="237744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0B981"/>
                </a:solidFill>
                <a:latin typeface="Calibri" panose="020F0502020204030204"/>
              </a:rPr>
              <a:t>▶</a:t>
            </a:r>
            <a:endParaRPr sz="1400" b="0" i="0">
              <a:solidFill>
                <a:srgbClr val="10B981"/>
              </a:solidFill>
              <a:latin typeface="Calibri" panose="020F050202020403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166360" y="1965960"/>
            <a:ext cx="2103120" cy="1097280"/>
          </a:xfrm>
          <a:prstGeom prst="round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 panose="020F0502020204030204"/>
              </a:rPr>
              <a:t>Label build</a:t>
            </a:r>
            <a:endParaRPr sz="1250" b="1">
              <a:solidFill>
                <a:srgbClr val="FFFFFF"/>
              </a:solidFill>
              <a:latin typeface="Calibri" panose="020F0502020204030204"/>
            </a:endParaRP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CFE4D8"/>
                </a:solidFill>
                <a:latin typeface="Calibri" panose="020F0502020204030204"/>
              </a:rPr>
              <a:t>MODIS fire, climate
&amp; NDVI thresholds</a:t>
            </a:r>
            <a:endParaRPr sz="850">
              <a:solidFill>
                <a:srgbClr val="CFE4D8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232904" y="237744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0B981"/>
                </a:solidFill>
                <a:latin typeface="Calibri" panose="020F0502020204030204"/>
              </a:rPr>
              <a:t>▶</a:t>
            </a:r>
            <a:endParaRPr sz="1400" b="0" i="0">
              <a:solidFill>
                <a:srgbClr val="10B981"/>
              </a:solidFill>
              <a:latin typeface="Calibri" panose="020F050202020403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498080" y="1965960"/>
            <a:ext cx="2103120" cy="1097280"/>
          </a:xfrm>
          <a:prstGeom prst="round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 panose="020F0502020204030204"/>
              </a:rPr>
              <a:t>Temporal split</a:t>
            </a:r>
            <a:endParaRPr sz="1250" b="1">
              <a:solidFill>
                <a:srgbClr val="FFFFFF"/>
              </a:solidFill>
              <a:latin typeface="Calibri" panose="020F0502020204030204"/>
            </a:endParaRP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CFE4D8"/>
                </a:solidFill>
                <a:latin typeface="Calibri" panose="020F0502020204030204"/>
              </a:rPr>
              <a:t>train 2020-23
test 2024-25</a:t>
            </a:r>
            <a:endParaRPr sz="850">
              <a:solidFill>
                <a:srgbClr val="CFE4D8"/>
              </a:solidFill>
              <a:latin typeface="Calibri" panose="020F0502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564624" y="237744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0B981"/>
                </a:solidFill>
                <a:latin typeface="Calibri" panose="020F0502020204030204"/>
              </a:rPr>
              <a:t>▶</a:t>
            </a:r>
            <a:endParaRPr sz="1400" b="0" i="0">
              <a:solidFill>
                <a:srgbClr val="10B981"/>
              </a:solidFill>
              <a:latin typeface="Calibri" panose="020F0502020204030204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829800" y="1965960"/>
            <a:ext cx="2103120" cy="1097280"/>
          </a:xfrm>
          <a:prstGeom prst="round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 panose="020F0502020204030204"/>
              </a:rPr>
              <a:t>Model training</a:t>
            </a:r>
            <a:endParaRPr sz="1250" b="1">
              <a:solidFill>
                <a:srgbClr val="FFFFFF"/>
              </a:solidFill>
              <a:latin typeface="Calibri" panose="020F0502020204030204"/>
            </a:endParaRP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CFE4D8"/>
                </a:solidFill>
                <a:latin typeface="Calibri" panose="020F0502020204030204"/>
              </a:rPr>
              <a:t>RF / XGB / LSTM / Trf
sup + semi-sup</a:t>
            </a:r>
            <a:endParaRPr sz="850">
              <a:solidFill>
                <a:srgbClr val="CFE4D8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66928" y="33375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0B981"/>
                </a:solidFill>
                <a:latin typeface="Calibri" panose="020F0502020204030204"/>
              </a:rPr>
              <a:t>▼</a:t>
            </a:r>
            <a:endParaRPr sz="1600" b="0" i="0">
              <a:solidFill>
                <a:srgbClr val="10B981"/>
              </a:solidFill>
              <a:latin typeface="Calibri" panose="020F0502020204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66928" y="37033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0B981"/>
                </a:solidFill>
                <a:latin typeface="Calibri" panose="020F0502020204030204"/>
              </a:rPr>
              <a:t>PHASE 2  ·  SERVE</a:t>
            </a:r>
            <a:endParaRPr sz="1200" b="1" i="0">
              <a:solidFill>
                <a:srgbClr val="10B981"/>
              </a:solidFill>
              <a:latin typeface="Calibri" panose="020F0502020204030204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1051560" y="4069080"/>
            <a:ext cx="2377440" cy="1097280"/>
          </a:xfrm>
          <a:prstGeom prst="round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 panose="020F0502020204030204"/>
              </a:rPr>
              <a:t>Calibration</a:t>
            </a:r>
            <a:endParaRPr sz="1250" b="1">
              <a:solidFill>
                <a:srgbClr val="FFFFFF"/>
              </a:solidFill>
              <a:latin typeface="Calibri" panose="020F0502020204030204"/>
            </a:endParaRP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CFE4D8"/>
                </a:solidFill>
                <a:latin typeface="Calibri" panose="020F0502020204030204"/>
              </a:rPr>
              <a:t>Platt scaling</a:t>
            </a:r>
            <a:endParaRPr sz="850">
              <a:solidFill>
                <a:srgbClr val="CFE4D8"/>
              </a:solidFill>
              <a:latin typeface="Calibri" panose="020F0502020204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374136" y="4480560"/>
            <a:ext cx="3840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0B981"/>
                </a:solidFill>
                <a:latin typeface="Calibri" panose="020F0502020204030204"/>
              </a:rPr>
              <a:t>▶</a:t>
            </a:r>
            <a:endParaRPr sz="1400" b="0" i="0">
              <a:solidFill>
                <a:srgbClr val="10B981"/>
              </a:solidFill>
              <a:latin typeface="Calibri" panose="020F0502020204030204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3703320" y="4069080"/>
            <a:ext cx="2377440" cy="1097280"/>
          </a:xfrm>
          <a:prstGeom prst="round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 panose="020F0502020204030204"/>
              </a:rPr>
              <a:t>30-day risk</a:t>
            </a:r>
            <a:endParaRPr sz="1250" b="1">
              <a:solidFill>
                <a:srgbClr val="FFFFFF"/>
              </a:solidFill>
              <a:latin typeface="Calibri" panose="020F0502020204030204"/>
            </a:endParaRP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CFE4D8"/>
                </a:solidFill>
                <a:latin typeface="Calibri" panose="020F0502020204030204"/>
              </a:rPr>
              <a:t>fire · drought ·
vegetation</a:t>
            </a:r>
            <a:endParaRPr sz="850">
              <a:solidFill>
                <a:srgbClr val="CFE4D8"/>
              </a:solidFill>
              <a:latin typeface="Calibri" panose="020F050202020403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025896" y="4480560"/>
            <a:ext cx="3840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0B981"/>
                </a:solidFill>
                <a:latin typeface="Calibri" panose="020F0502020204030204"/>
              </a:rPr>
              <a:t>▶</a:t>
            </a:r>
            <a:endParaRPr sz="1400" b="0" i="0">
              <a:solidFill>
                <a:srgbClr val="10B981"/>
              </a:solidFill>
              <a:latin typeface="Calibri" panose="020F0502020204030204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355080" y="4069080"/>
            <a:ext cx="2377440" cy="1097280"/>
          </a:xfrm>
          <a:prstGeom prst="round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 panose="020F0502020204030204"/>
              </a:rPr>
              <a:t>ILP recommender</a:t>
            </a:r>
            <a:endParaRPr sz="1250" b="1">
              <a:solidFill>
                <a:srgbClr val="FFFFFF"/>
              </a:solidFill>
              <a:latin typeface="Calibri" panose="020F0502020204030204"/>
            </a:endParaRP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CFE4D8"/>
                </a:solidFill>
                <a:latin typeface="Calibri" panose="020F0502020204030204"/>
              </a:rPr>
              <a:t>budget + 4 zones
(PuLP)</a:t>
            </a:r>
            <a:endParaRPr sz="850">
              <a:solidFill>
                <a:srgbClr val="CFE4D8"/>
              </a:solidFill>
              <a:latin typeface="Calibri" panose="020F050202020403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677656" y="4480560"/>
            <a:ext cx="3840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0B981"/>
                </a:solidFill>
                <a:latin typeface="Calibri" panose="020F0502020204030204"/>
              </a:rPr>
              <a:t>▶</a:t>
            </a:r>
            <a:endParaRPr sz="1400" b="0" i="0">
              <a:solidFill>
                <a:srgbClr val="10B981"/>
              </a:solidFill>
              <a:latin typeface="Calibri" panose="020F0502020204030204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9006840" y="4069080"/>
            <a:ext cx="2377440" cy="1097280"/>
          </a:xfrm>
          <a:prstGeom prst="roundRect">
            <a:avLst/>
          </a:prstGeom>
          <a:solidFill>
            <a:srgbClr val="0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 panose="020F0502020204030204"/>
              </a:rPr>
              <a:t>Web dashboard</a:t>
            </a:r>
            <a:endParaRPr sz="1250" b="1">
              <a:solidFill>
                <a:srgbClr val="FFFFFF"/>
              </a:solidFill>
              <a:latin typeface="Calibri" panose="020F0502020204030204"/>
            </a:endParaRP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CFE4D8"/>
                </a:solidFill>
                <a:latin typeface="Calibri" panose="020F0502020204030204"/>
              </a:rPr>
              <a:t>React + FastAPI
live daily cron</a:t>
            </a:r>
            <a:endParaRPr sz="850">
              <a:solidFill>
                <a:srgbClr val="CFE4D8"/>
              </a:solidFill>
              <a:latin typeface="Calibri" panose="020F050202020403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66928" y="54864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556577"/>
                </a:solidFill>
                <a:latin typeface="Calibri" panose="020F0502020204030204"/>
              </a:rPr>
              <a:t>The model is trained once on 2020-2025 data, then the same model runs live: a daily job pulls current data and refreshes every park's forecast.</a:t>
            </a:r>
            <a:endParaRPr sz="1300" b="0" i="1">
              <a:solidFill>
                <a:srgbClr val="556577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F3D2E"/>
                </a:solidFill>
                <a:latin typeface="Calibri" panose="020F0502020204030204"/>
              </a:rPr>
              <a:t>Features of the app</a:t>
            </a:r>
            <a:endParaRPr sz="2900" b="1" i="0">
              <a:solidFill>
                <a:srgbClr val="0F3D2E"/>
              </a:solidFill>
              <a:latin typeface="Calibri" panose="020F050202020403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94360" y="1024128"/>
            <a:ext cx="777240" cy="444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5400"/>
          </a:xfrm>
          <a:prstGeom prst="rect">
            <a:avLst/>
          </a:prstGeom>
          <a:solidFill>
            <a:srgbClr val="F2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9C6B8"/>
                </a:solidFill>
                <a:latin typeface="Calibri" panose="020F0502020204030204"/>
              </a:rPr>
              <a:t>ConserveAI  ·  Capstone progress update</a:t>
            </a:r>
            <a:endParaRPr sz="1000" b="0" i="0">
              <a:solidFill>
                <a:srgbClr val="A9C6B8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9C6B8"/>
                </a:solidFill>
                <a:latin typeface="Calibri" panose="020F0502020204030204"/>
              </a:rPr>
              <a:t>6 / 9</a:t>
            </a:r>
            <a:endParaRPr sz="1000" b="0" i="0">
              <a:solidFill>
                <a:srgbClr val="A9C6B8"/>
              </a:solidFill>
              <a:latin typeface="Calibri" panose="020F0502020204030204"/>
            </a:endParaRPr>
          </a:p>
        </p:txBody>
      </p:sp>
      <p:sp>
        <p:nvSpPr>
          <p:cNvPr id="8" name="Oval 7"/>
          <p:cNvSpPr/>
          <p:nvPr/>
        </p:nvSpPr>
        <p:spPr>
          <a:xfrm>
            <a:off x="658368" y="1600200"/>
            <a:ext cx="128016" cy="12801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08760"/>
            <a:ext cx="51206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F3D2E"/>
                </a:solidFill>
                <a:latin typeface="Calibri" panose="020F0502020204030204"/>
              </a:rPr>
              <a:t>Role-based access</a:t>
            </a:r>
            <a:endParaRPr sz="1600" b="1" i="0">
              <a:solidFill>
                <a:srgbClr val="0F3D2E"/>
              </a:solidFill>
              <a:latin typeface="Calibri" panose="020F0502020204030204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A37"/>
                </a:solidFill>
                <a:latin typeface="Calibri" panose="020F0502020204030204"/>
              </a:rPr>
              <a:t>Managers see only their park; the national admin sees all six.</a:t>
            </a:r>
            <a:endParaRPr sz="1300" b="0" i="0">
              <a:solidFill>
                <a:srgbClr val="1F2A37"/>
              </a:solidFill>
              <a:latin typeface="Calibri" panose="020F0502020204030204"/>
            </a:endParaRPr>
          </a:p>
        </p:txBody>
      </p:sp>
      <p:sp>
        <p:nvSpPr>
          <p:cNvPr id="10" name="Oval 9"/>
          <p:cNvSpPr/>
          <p:nvPr/>
        </p:nvSpPr>
        <p:spPr>
          <a:xfrm>
            <a:off x="6355080" y="1600200"/>
            <a:ext cx="128016" cy="12801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1508760"/>
            <a:ext cx="51206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F3D2E"/>
                </a:solidFill>
                <a:latin typeface="Calibri" panose="020F0502020204030204"/>
              </a:rPr>
              <a:t>National risk overview</a:t>
            </a:r>
            <a:endParaRPr sz="1600" b="1" i="0">
              <a:solidFill>
                <a:srgbClr val="0F3D2E"/>
              </a:solidFill>
              <a:latin typeface="Calibri" panose="020F0502020204030204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A37"/>
                </a:solidFill>
                <a:latin typeface="Calibri" panose="020F0502020204030204"/>
              </a:rPr>
              <a:t>Nigeria map shaded by risk, a switchable threat lens, and priority ranking.</a:t>
            </a:r>
            <a:endParaRPr sz="1300" b="0" i="0">
              <a:solidFill>
                <a:srgbClr val="1F2A37"/>
              </a:solidFill>
              <a:latin typeface="Calibri" panose="020F0502020204030204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658368" y="2788920"/>
            <a:ext cx="128016" cy="12801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697480"/>
            <a:ext cx="51206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F3D2E"/>
                </a:solidFill>
                <a:latin typeface="Calibri" panose="020F0502020204030204"/>
              </a:rPr>
              <a:t>30-day forecasts</a:t>
            </a:r>
            <a:endParaRPr sz="1600" b="1" i="0">
              <a:solidFill>
                <a:srgbClr val="0F3D2E"/>
              </a:solidFill>
              <a:latin typeface="Calibri" panose="020F0502020204030204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A37"/>
                </a:solidFill>
                <a:latin typeface="Calibri" panose="020F0502020204030204"/>
              </a:rPr>
              <a:t>Fire, drought and vegetation risk with 60-day history per park.</a:t>
            </a:r>
            <a:endParaRPr sz="1300" b="0" i="0">
              <a:solidFill>
                <a:srgbClr val="1F2A37"/>
              </a:solidFill>
              <a:latin typeface="Calibri" panose="020F0502020204030204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6355080" y="2788920"/>
            <a:ext cx="128016" cy="12801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2697480"/>
            <a:ext cx="51206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F3D2E"/>
                </a:solidFill>
                <a:latin typeface="Calibri" panose="020F0502020204030204"/>
              </a:rPr>
              <a:t>Forecast drivers</a:t>
            </a:r>
            <a:endParaRPr sz="1600" b="1" i="0">
              <a:solidFill>
                <a:srgbClr val="0F3D2E"/>
              </a:solidFill>
              <a:latin typeface="Calibri" panose="020F0502020204030204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A37"/>
                </a:solidFill>
                <a:latin typeface="Calibri" panose="020F0502020204030204"/>
              </a:rPr>
              <a:t>The environmental signals behind each threat, in plain language.</a:t>
            </a:r>
            <a:endParaRPr sz="1300" b="0" i="0">
              <a:solidFill>
                <a:srgbClr val="1F2A37"/>
              </a:solidFill>
              <a:latin typeface="Calibri" panose="020F0502020204030204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658368" y="3977640"/>
            <a:ext cx="128016" cy="12801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3886200"/>
            <a:ext cx="51206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F3D2E"/>
                </a:solidFill>
                <a:latin typeface="Calibri" panose="020F0502020204030204"/>
              </a:rPr>
              <a:t>Budget recommender</a:t>
            </a:r>
            <a:endParaRPr sz="1600" b="1" i="0">
              <a:solidFill>
                <a:srgbClr val="0F3D2E"/>
              </a:solidFill>
              <a:latin typeface="Calibri" panose="020F0502020204030204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A37"/>
                </a:solidFill>
                <a:latin typeface="Calibri" panose="020F0502020204030204"/>
              </a:rPr>
              <a:t>A live budget slider returns a zone-level deployment plan in milliseconds.</a:t>
            </a:r>
            <a:endParaRPr sz="1300" b="0" i="0">
              <a:solidFill>
                <a:srgbClr val="1F2A37"/>
              </a:solidFill>
              <a:latin typeface="Calibri" panose="020F0502020204030204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6355080" y="3977640"/>
            <a:ext cx="128016" cy="12801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3886200"/>
            <a:ext cx="51206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F3D2E"/>
                </a:solidFill>
                <a:latin typeface="Calibri" panose="020F0502020204030204"/>
              </a:rPr>
              <a:t>Zone deployment map</a:t>
            </a:r>
            <a:endParaRPr sz="1600" b="1" i="0">
              <a:solidFill>
                <a:srgbClr val="0F3D2E"/>
              </a:solidFill>
              <a:latin typeface="Calibri" panose="020F0502020204030204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A37"/>
                </a:solidFill>
                <a:latin typeface="Calibri" panose="020F0502020204030204"/>
              </a:rPr>
              <a:t>Shows how many units of each intervention go to each of four zones.</a:t>
            </a:r>
            <a:endParaRPr sz="1300" b="0" i="0">
              <a:solidFill>
                <a:srgbClr val="1F2A37"/>
              </a:solidFill>
              <a:latin typeface="Calibri" panose="020F0502020204030204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658368" y="5166360"/>
            <a:ext cx="128016" cy="12801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5074920"/>
            <a:ext cx="51206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F3D2E"/>
                </a:solidFill>
                <a:latin typeface="Calibri" panose="020F0502020204030204"/>
              </a:rPr>
              <a:t>Intervention catalog</a:t>
            </a:r>
            <a:endParaRPr sz="1600" b="1" i="0">
              <a:solidFill>
                <a:srgbClr val="0F3D2E"/>
              </a:solidFill>
              <a:latin typeface="Calibri" panose="020F0502020204030204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A37"/>
                </a:solidFill>
                <a:latin typeface="Calibri" panose="020F0502020204030204"/>
              </a:rPr>
              <a:t>Each action with its capacity and per-threat effect.</a:t>
            </a:r>
            <a:endParaRPr sz="1300" b="0" i="0">
              <a:solidFill>
                <a:srgbClr val="1F2A37"/>
              </a:solidFill>
              <a:latin typeface="Calibri" panose="020F0502020204030204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6355080" y="5166360"/>
            <a:ext cx="128016" cy="12801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5074920"/>
            <a:ext cx="51206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F3D2E"/>
                </a:solidFill>
                <a:latin typeface="Calibri" panose="020F0502020204030204"/>
              </a:rPr>
              <a:t>Live and deployed</a:t>
            </a:r>
            <a:endParaRPr sz="1600" b="1" i="0">
              <a:solidFill>
                <a:srgbClr val="0F3D2E"/>
              </a:solidFill>
              <a:latin typeface="Calibri" panose="020F0502020204030204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A37"/>
                </a:solidFill>
                <a:latin typeface="Calibri" panose="020F0502020204030204"/>
              </a:rPr>
              <a:t>Vercel, Fly.io and Neon, refreshed automatically every day.</a:t>
            </a:r>
            <a:endParaRPr sz="1300" b="0" i="0">
              <a:solidFill>
                <a:srgbClr val="1F2A37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F3D2E"/>
                </a:solidFill>
                <a:latin typeface="Calibri" panose="020F0502020204030204"/>
              </a:rPr>
              <a:t>Working prototype</a:t>
            </a:r>
            <a:endParaRPr sz="2900" b="1" i="0">
              <a:solidFill>
                <a:srgbClr val="0F3D2E"/>
              </a:solidFill>
              <a:latin typeface="Calibri" panose="020F050202020403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94360" y="1024128"/>
            <a:ext cx="777240" cy="444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5400"/>
          </a:xfrm>
          <a:prstGeom prst="rect">
            <a:avLst/>
          </a:prstGeom>
          <a:solidFill>
            <a:srgbClr val="F2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9C6B8"/>
                </a:solidFill>
                <a:latin typeface="Calibri" panose="020F0502020204030204"/>
              </a:rPr>
              <a:t>ConserveAI  ·  Capstone progress update</a:t>
            </a:r>
            <a:endParaRPr sz="1000" b="0" i="0">
              <a:solidFill>
                <a:srgbClr val="A9C6B8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9C6B8"/>
                </a:solidFill>
                <a:latin typeface="Calibri" panose="020F0502020204030204"/>
              </a:rPr>
              <a:t>7 / 9</a:t>
            </a:r>
            <a:endParaRPr sz="1000" b="0" i="0">
              <a:solidFill>
                <a:srgbClr val="A9C6B8"/>
              </a:solidFill>
              <a:latin typeface="Calibri" panose="020F0502020204030204"/>
            </a:endParaRPr>
          </a:p>
        </p:txBody>
      </p:sp>
      <p:sp>
        <p:nvSpPr>
          <p:cNvPr id="8" name="Oval 7"/>
          <p:cNvSpPr/>
          <p:nvPr/>
        </p:nvSpPr>
        <p:spPr>
          <a:xfrm>
            <a:off x="640080" y="1609344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544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0F3D2E"/>
                </a:solidFill>
                <a:latin typeface="Calibri" panose="020F0502020204030204"/>
              </a:rPr>
              <a:t>Deployed end to end.</a:t>
            </a:r>
            <a:endParaRPr sz="1900" b="1" i="0">
              <a:solidFill>
                <a:srgbClr val="0F3D2E"/>
              </a:solidFill>
              <a:latin typeface="Calibri" panose="020F0502020204030204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1F2A37"/>
                </a:solidFill>
                <a:latin typeface="Calibri" panose="020F0502020204030204"/>
              </a:rPr>
              <a:t>React on Vercel, FastAPI on Fly.io, a Neon Postgres database, and a daily GitHub Actions job that refreshes forecasts automatically.</a:t>
            </a:r>
            <a:endParaRPr sz="1550" b="0" i="0">
              <a:solidFill>
                <a:srgbClr val="1F2A37"/>
              </a:solidFill>
              <a:latin typeface="Calibri" panose="020F0502020204030204"/>
            </a:endParaRPr>
          </a:p>
        </p:txBody>
      </p:sp>
      <p:sp>
        <p:nvSpPr>
          <p:cNvPr id="10" name="Oval 9"/>
          <p:cNvSpPr/>
          <p:nvPr/>
        </p:nvSpPr>
        <p:spPr>
          <a:xfrm>
            <a:off x="640080" y="2843784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78892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0F3D2E"/>
                </a:solidFill>
                <a:latin typeface="Calibri" panose="020F0502020204030204"/>
              </a:rPr>
              <a:t>An operational dashboard.</a:t>
            </a:r>
            <a:endParaRPr sz="1900" b="1" i="0">
              <a:solidFill>
                <a:srgbClr val="0F3D2E"/>
              </a:solidFill>
              <a:latin typeface="Calibri" panose="020F0502020204030204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1F2A37"/>
                </a:solidFill>
                <a:latin typeface="Calibri" panose="020F0502020204030204"/>
              </a:rPr>
              <a:t>A national risk map, per-park 30-day forecasts with drivers, and a planner that returns a zone-level plan for a chosen budget.</a:t>
            </a:r>
            <a:endParaRPr sz="1550" b="0" i="0">
              <a:solidFill>
                <a:srgbClr val="1F2A37"/>
              </a:solidFill>
              <a:latin typeface="Calibri" panose="020F0502020204030204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640080" y="4078224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40233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0F3D2E"/>
                </a:solidFill>
                <a:latin typeface="Calibri" panose="020F0502020204030204"/>
              </a:rPr>
              <a:t>Engineered and verified.</a:t>
            </a:r>
            <a:endParaRPr sz="1900" b="1" i="0">
              <a:solidFill>
                <a:srgbClr val="0F3D2E"/>
              </a:solidFill>
              <a:latin typeface="Calibri" panose="020F0502020204030204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1F2A37"/>
                </a:solidFill>
                <a:latin typeface="Calibri" panose="020F0502020204030204"/>
              </a:rPr>
              <a:t>Seventeen automated tests pass, alongside integration and end-to-end checks against the live system.</a:t>
            </a:r>
            <a:endParaRPr sz="1550" b="0" i="0">
              <a:solidFill>
                <a:srgbClr val="1F2A37"/>
              </a:solidFill>
              <a:latin typeface="Calibri" panose="020F050202020403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58368" y="5440680"/>
            <a:ext cx="740664" cy="384048"/>
          </a:xfrm>
          <a:prstGeom prst="roundRect">
            <a:avLst/>
          </a:prstGeom>
          <a:solidFill>
            <a:srgbClr val="F2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5486400"/>
            <a:ext cx="74066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3D2E"/>
                </a:solidFill>
                <a:latin typeface="Calibri" panose="020F0502020204030204"/>
              </a:rPr>
              <a:t>Vercel</a:t>
            </a:r>
            <a:endParaRPr sz="1250" b="1" i="0">
              <a:solidFill>
                <a:srgbClr val="0F3D2E"/>
              </a:solidFill>
              <a:latin typeface="Calibri" panose="020F050202020403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1563624" y="5440680"/>
            <a:ext cx="740664" cy="384048"/>
          </a:xfrm>
          <a:prstGeom prst="roundRect">
            <a:avLst/>
          </a:prstGeom>
          <a:solidFill>
            <a:srgbClr val="F2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63624" y="5486400"/>
            <a:ext cx="74066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3D2E"/>
                </a:solidFill>
                <a:latin typeface="Calibri" panose="020F0502020204030204"/>
              </a:rPr>
              <a:t>Fly.io</a:t>
            </a:r>
            <a:endParaRPr sz="1250" b="1" i="0">
              <a:solidFill>
                <a:srgbClr val="0F3D2E"/>
              </a:solidFill>
              <a:latin typeface="Calibri" panose="020F0502020204030204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2468880" y="5440680"/>
            <a:ext cx="548640" cy="384048"/>
          </a:xfrm>
          <a:prstGeom prst="roundRect">
            <a:avLst/>
          </a:prstGeom>
          <a:solidFill>
            <a:srgbClr val="F2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68880" y="5486400"/>
            <a:ext cx="548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3D2E"/>
                </a:solidFill>
                <a:latin typeface="Calibri" panose="020F0502020204030204"/>
              </a:rPr>
              <a:t>Neon</a:t>
            </a:r>
            <a:endParaRPr sz="1250" b="1" i="0">
              <a:solidFill>
                <a:srgbClr val="0F3D2E"/>
              </a:solidFill>
              <a:latin typeface="Calibri" panose="020F05020202040302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3182112" y="5440680"/>
            <a:ext cx="1508760" cy="384048"/>
          </a:xfrm>
          <a:prstGeom prst="roundRect">
            <a:avLst/>
          </a:prstGeom>
          <a:solidFill>
            <a:srgbClr val="F2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82112" y="5486400"/>
            <a:ext cx="1508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3D2E"/>
                </a:solidFill>
                <a:latin typeface="Calibri" panose="020F0502020204030204"/>
              </a:rPr>
              <a:t>GitHub Actions</a:t>
            </a:r>
            <a:endParaRPr sz="1250" b="1" i="0">
              <a:solidFill>
                <a:srgbClr val="0F3D2E"/>
              </a:solidFill>
              <a:latin typeface="Calibri" panose="020F0502020204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00800" y="548640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0B981"/>
                </a:solidFill>
                <a:latin typeface="Calibri" panose="020F0502020204030204"/>
              </a:rPr>
              <a:t>Live:  conserve-ai.vercel.app</a:t>
            </a:r>
            <a:endParaRPr sz="1400" b="1" i="0">
              <a:solidFill>
                <a:srgbClr val="10B981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F3D2E"/>
                </a:solidFill>
                <a:latin typeface="Calibri" panose="020F0502020204030204"/>
              </a:rPr>
              <a:t>Results</a:t>
            </a:r>
            <a:endParaRPr sz="2900" b="1" i="0">
              <a:solidFill>
                <a:srgbClr val="0F3D2E"/>
              </a:solidFill>
              <a:latin typeface="Calibri" panose="020F050202020403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94360" y="1024128"/>
            <a:ext cx="777240" cy="444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5400"/>
          </a:xfrm>
          <a:prstGeom prst="rect">
            <a:avLst/>
          </a:prstGeom>
          <a:solidFill>
            <a:srgbClr val="F2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9C6B8"/>
                </a:solidFill>
                <a:latin typeface="Calibri" panose="020F0502020204030204"/>
              </a:rPr>
              <a:t>ConserveAI  ·  Capstone progress update</a:t>
            </a:r>
            <a:endParaRPr sz="1000" b="0" i="0">
              <a:solidFill>
                <a:srgbClr val="A9C6B8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9C6B8"/>
                </a:solidFill>
                <a:latin typeface="Calibri" panose="020F0502020204030204"/>
              </a:rPr>
              <a:t>8 / 9</a:t>
            </a:r>
            <a:endParaRPr sz="1000" b="0" i="0">
              <a:solidFill>
                <a:srgbClr val="A9C6B8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8368" y="1280160"/>
            <a:ext cx="10881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1F2A37"/>
                </a:solidFill>
                <a:latin typeface="Calibri" panose="020F0502020204030204"/>
              </a:rPr>
              <a:t>Production model (self-training Random Forest) on a held-out 2024-2025 test set, n = 3,812 park-days:</a:t>
            </a:r>
            <a:endParaRPr sz="1550" b="0" i="0">
              <a:solidFill>
                <a:srgbClr val="1F2A37"/>
              </a:solidFill>
              <a:latin typeface="Calibri" panose="020F050202020403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58368" y="1783080"/>
            <a:ext cx="3520440" cy="1371600"/>
          </a:xfrm>
          <a:prstGeom prst="roundRect">
            <a:avLst/>
          </a:prstGeom>
          <a:solidFill>
            <a:srgbClr val="F2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3520440" cy="76200"/>
          </a:xfrm>
          <a:prstGeom prst="rect">
            <a:avLst/>
          </a:prstGeom>
          <a:solidFill>
            <a:srgbClr val="E64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947672"/>
            <a:ext cx="3520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2A37"/>
                </a:solidFill>
                <a:latin typeface="Calibri" panose="020F0502020204030204"/>
              </a:rPr>
              <a:t>Fire risk</a:t>
            </a:r>
            <a:endParaRPr sz="1500" b="1" i="0">
              <a:solidFill>
                <a:srgbClr val="1F2A37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8368" y="2286000"/>
            <a:ext cx="3520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E64A19"/>
                </a:solidFill>
                <a:latin typeface="Calibri" panose="020F0502020204030204"/>
              </a:rPr>
              <a:t>0.94</a:t>
            </a:r>
            <a:endParaRPr sz="4400" b="1" i="0">
              <a:solidFill>
                <a:srgbClr val="E64A19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8368" y="2907792"/>
            <a:ext cx="3520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56577"/>
                </a:solidFill>
                <a:latin typeface="Calibri" panose="020F0502020204030204"/>
              </a:rPr>
              <a:t>F2 score</a:t>
            </a:r>
            <a:endParaRPr sz="1200" b="0" i="0">
              <a:solidFill>
                <a:srgbClr val="556577"/>
              </a:solidFill>
              <a:latin typeface="Calibri" panose="020F050202020403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425696" y="1783080"/>
            <a:ext cx="3520440" cy="1371600"/>
          </a:xfrm>
          <a:prstGeom prst="roundRect">
            <a:avLst/>
          </a:prstGeom>
          <a:solidFill>
            <a:srgbClr val="F2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25696" y="1783080"/>
            <a:ext cx="3520440" cy="76200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25696" y="1947672"/>
            <a:ext cx="3520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2A37"/>
                </a:solidFill>
                <a:latin typeface="Calibri" panose="020F0502020204030204"/>
              </a:rPr>
              <a:t>Drought risk</a:t>
            </a:r>
            <a:endParaRPr sz="1500" b="1" i="0">
              <a:solidFill>
                <a:srgbClr val="1F2A37"/>
              </a:solidFill>
              <a:latin typeface="Calibri" panose="020F0502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425696" y="2286000"/>
            <a:ext cx="3520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1976D2"/>
                </a:solidFill>
                <a:latin typeface="Calibri" panose="020F0502020204030204"/>
              </a:rPr>
              <a:t>0.89</a:t>
            </a:r>
            <a:endParaRPr sz="4400" b="1" i="0">
              <a:solidFill>
                <a:srgbClr val="1976D2"/>
              </a:solidFill>
              <a:latin typeface="Calibri" panose="020F0502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425696" y="2907792"/>
            <a:ext cx="3520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56577"/>
                </a:solidFill>
                <a:latin typeface="Calibri" panose="020F0502020204030204"/>
              </a:rPr>
              <a:t>F2 score</a:t>
            </a:r>
            <a:endParaRPr sz="1200" b="0" i="0">
              <a:solidFill>
                <a:srgbClr val="556577"/>
              </a:solidFill>
              <a:latin typeface="Calibri" panose="020F0502020204030204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193024" y="1783080"/>
            <a:ext cx="3520440" cy="1371600"/>
          </a:xfrm>
          <a:prstGeom prst="roundRect">
            <a:avLst/>
          </a:prstGeom>
          <a:solidFill>
            <a:srgbClr val="F2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93024" y="1783080"/>
            <a:ext cx="3520440" cy="76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93024" y="1947672"/>
            <a:ext cx="3520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2A37"/>
                </a:solidFill>
                <a:latin typeface="Calibri" panose="020F0502020204030204"/>
              </a:rPr>
              <a:t>Vegetation risk</a:t>
            </a:r>
            <a:endParaRPr sz="1500" b="1" i="0">
              <a:solidFill>
                <a:srgbClr val="1F2A37"/>
              </a:solidFill>
              <a:latin typeface="Calibri" panose="020F0502020204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193024" y="2286000"/>
            <a:ext cx="3520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2E7D32"/>
                </a:solidFill>
                <a:latin typeface="Calibri" panose="020F0502020204030204"/>
              </a:rPr>
              <a:t>0.75</a:t>
            </a:r>
            <a:endParaRPr sz="4400" b="1" i="0">
              <a:solidFill>
                <a:srgbClr val="2E7D32"/>
              </a:solidFill>
              <a:latin typeface="Calibri" panose="020F0502020204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193024" y="2907792"/>
            <a:ext cx="3520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56577"/>
                </a:solidFill>
                <a:latin typeface="Calibri" panose="020F0502020204030204"/>
              </a:rPr>
              <a:t>F2 score</a:t>
            </a:r>
            <a:endParaRPr sz="1200" b="0" i="0">
              <a:solidFill>
                <a:srgbClr val="556577"/>
              </a:solidFill>
              <a:latin typeface="Calibri" panose="020F0502020204030204"/>
            </a:endParaRP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658368" y="3429000"/>
          <a:ext cx="10881360" cy="1417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51760"/>
                <a:gridCol w="2057400"/>
                <a:gridCol w="2057400"/>
                <a:gridCol w="2057400"/>
                <a:gridCol w="2057400"/>
              </a:tblGrid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Threat</a:t>
                      </a:r>
                      <a:endParaRPr sz="135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T="25400" marB="25400" anchor="ctr">
                    <a:solidFill>
                      <a:srgbClr val="0F3D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F2</a:t>
                      </a:r>
                      <a:endParaRPr sz="135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T="25400" marB="25400" anchor="ctr">
                    <a:solidFill>
                      <a:srgbClr val="0F3D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ROC-AUC</a:t>
                      </a:r>
                      <a:endParaRPr sz="135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T="25400" marB="25400" anchor="ctr">
                    <a:solidFill>
                      <a:srgbClr val="0F3D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Precision</a:t>
                      </a:r>
                      <a:endParaRPr sz="135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T="25400" marB="25400" anchor="ctr">
                    <a:solidFill>
                      <a:srgbClr val="0F3D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Recall</a:t>
                      </a:r>
                      <a:endParaRPr sz="135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T="25400" marB="25400" anchor="ctr">
                    <a:solidFill>
                      <a:srgbClr val="0F3D2E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1F2A37"/>
                          </a:solidFill>
                          <a:latin typeface="Calibri" panose="020F0502020204030204"/>
                        </a:rPr>
                        <a:t>Fire</a:t>
                      </a:r>
                      <a:endParaRPr sz="1350" b="1">
                        <a:solidFill>
                          <a:srgbClr val="1F2A37"/>
                        </a:solidFill>
                        <a:latin typeface="Calibri" panose="020F0502020204030204"/>
                      </a:endParaRP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F2A37"/>
                          </a:solidFill>
                          <a:latin typeface="Calibri" panose="020F0502020204030204"/>
                        </a:rPr>
                        <a:t>0.942</a:t>
                      </a:r>
                      <a:endParaRPr sz="1350">
                        <a:solidFill>
                          <a:srgbClr val="1F2A37"/>
                        </a:solidFill>
                        <a:latin typeface="Calibri" panose="020F0502020204030204"/>
                      </a:endParaRP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F2A37"/>
                          </a:solidFill>
                          <a:latin typeface="Calibri" panose="020F0502020204030204"/>
                        </a:rPr>
                        <a:t>0.977</a:t>
                      </a:r>
                      <a:endParaRPr sz="1350">
                        <a:solidFill>
                          <a:srgbClr val="1F2A37"/>
                        </a:solidFill>
                        <a:latin typeface="Calibri" panose="020F0502020204030204"/>
                      </a:endParaRP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F2A37"/>
                          </a:solidFill>
                          <a:latin typeface="Calibri" panose="020F0502020204030204"/>
                        </a:rPr>
                        <a:t>0.885</a:t>
                      </a:r>
                      <a:endParaRPr sz="1350">
                        <a:solidFill>
                          <a:srgbClr val="1F2A37"/>
                        </a:solidFill>
                        <a:latin typeface="Calibri" panose="020F0502020204030204"/>
                      </a:endParaRP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F2A37"/>
                          </a:solidFill>
                          <a:latin typeface="Calibri" panose="020F0502020204030204"/>
                        </a:rPr>
                        <a:t>0.957</a:t>
                      </a:r>
                      <a:endParaRPr sz="1350">
                        <a:solidFill>
                          <a:srgbClr val="1F2A37"/>
                        </a:solidFill>
                        <a:latin typeface="Calibri" panose="020F0502020204030204"/>
                      </a:endParaRP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1F2A37"/>
                          </a:solidFill>
                          <a:latin typeface="Calibri" panose="020F0502020204030204"/>
                        </a:rPr>
                        <a:t>Drought</a:t>
                      </a:r>
                      <a:endParaRPr sz="1350" b="1">
                        <a:solidFill>
                          <a:srgbClr val="1F2A37"/>
                        </a:solidFill>
                        <a:latin typeface="Calibri" panose="020F0502020204030204"/>
                      </a:endParaRPr>
                    </a:p>
                  </a:txBody>
                  <a:tcPr marT="25400" marB="25400" anchor="ctr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F2A37"/>
                          </a:solidFill>
                          <a:latin typeface="Calibri" panose="020F0502020204030204"/>
                        </a:rPr>
                        <a:t>0.885</a:t>
                      </a:r>
                      <a:endParaRPr sz="1350">
                        <a:solidFill>
                          <a:srgbClr val="1F2A37"/>
                        </a:solidFill>
                        <a:latin typeface="Calibri" panose="020F0502020204030204"/>
                      </a:endParaRPr>
                    </a:p>
                  </a:txBody>
                  <a:tcPr marT="25400" marB="25400" anchor="ctr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F2A37"/>
                          </a:solidFill>
                          <a:latin typeface="Calibri" panose="020F0502020204030204"/>
                        </a:rPr>
                        <a:t>0.967</a:t>
                      </a:r>
                      <a:endParaRPr sz="1350">
                        <a:solidFill>
                          <a:srgbClr val="1F2A37"/>
                        </a:solidFill>
                        <a:latin typeface="Calibri" panose="020F0502020204030204"/>
                      </a:endParaRPr>
                    </a:p>
                  </a:txBody>
                  <a:tcPr marT="25400" marB="25400" anchor="ctr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F2A37"/>
                          </a:solidFill>
                          <a:latin typeface="Calibri" panose="020F0502020204030204"/>
                        </a:rPr>
                        <a:t>0.715</a:t>
                      </a:r>
                      <a:endParaRPr sz="1350">
                        <a:solidFill>
                          <a:srgbClr val="1F2A37"/>
                        </a:solidFill>
                        <a:latin typeface="Calibri" panose="020F0502020204030204"/>
                      </a:endParaRPr>
                    </a:p>
                  </a:txBody>
                  <a:tcPr marT="25400" marB="25400" anchor="ctr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F2A37"/>
                          </a:solidFill>
                          <a:latin typeface="Calibri" panose="020F0502020204030204"/>
                        </a:rPr>
                        <a:t>0.941</a:t>
                      </a:r>
                      <a:endParaRPr sz="1350">
                        <a:solidFill>
                          <a:srgbClr val="1F2A37"/>
                        </a:solidFill>
                        <a:latin typeface="Calibri" panose="020F0502020204030204"/>
                      </a:endParaRPr>
                    </a:p>
                  </a:txBody>
                  <a:tcPr marT="25400" marB="25400" anchor="ctr">
                    <a:solidFill>
                      <a:srgbClr val="F2F6F4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1F2A37"/>
                          </a:solidFill>
                          <a:latin typeface="Calibri" panose="020F0502020204030204"/>
                        </a:rPr>
                        <a:t>Vegetation</a:t>
                      </a:r>
                      <a:endParaRPr sz="1350" b="1">
                        <a:solidFill>
                          <a:srgbClr val="1F2A37"/>
                        </a:solidFill>
                        <a:latin typeface="Calibri" panose="020F0502020204030204"/>
                      </a:endParaRP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F2A37"/>
                          </a:solidFill>
                          <a:latin typeface="Calibri" panose="020F0502020204030204"/>
                        </a:rPr>
                        <a:t>0.746</a:t>
                      </a:r>
                      <a:endParaRPr sz="1350">
                        <a:solidFill>
                          <a:srgbClr val="1F2A37"/>
                        </a:solidFill>
                        <a:latin typeface="Calibri" panose="020F0502020204030204"/>
                      </a:endParaRP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F2A37"/>
                          </a:solidFill>
                          <a:latin typeface="Calibri" panose="020F0502020204030204"/>
                        </a:rPr>
                        <a:t>0.774</a:t>
                      </a:r>
                      <a:endParaRPr sz="1350">
                        <a:solidFill>
                          <a:srgbClr val="1F2A37"/>
                        </a:solidFill>
                        <a:latin typeface="Calibri" panose="020F0502020204030204"/>
                      </a:endParaRP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F2A37"/>
                          </a:solidFill>
                          <a:latin typeface="Calibri" panose="020F0502020204030204"/>
                        </a:rPr>
                        <a:t>0.617</a:t>
                      </a:r>
                      <a:endParaRPr sz="1350">
                        <a:solidFill>
                          <a:srgbClr val="1F2A37"/>
                        </a:solidFill>
                        <a:latin typeface="Calibri" panose="020F0502020204030204"/>
                      </a:endParaRP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F2A37"/>
                          </a:solidFill>
                          <a:latin typeface="Calibri" panose="020F0502020204030204"/>
                        </a:rPr>
                        <a:t>0.786</a:t>
                      </a:r>
                      <a:endParaRPr sz="1350">
                        <a:solidFill>
                          <a:srgbClr val="1F2A37"/>
                        </a:solidFill>
                        <a:latin typeface="Calibri" panose="020F0502020204030204"/>
                      </a:endParaRP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658368" y="5074920"/>
            <a:ext cx="10881360" cy="3181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0" i="0">
                <a:solidFill>
                  <a:srgbClr val="1F2A37"/>
                </a:solidFill>
                <a:latin typeface="Calibri" panose="020F0502020204030204"/>
              </a:rPr>
              <a:t>F2 weights recall, since missing a real threat costs more than a false alarm. Fire and drought are strong; vegetation is moderate.</a:t>
            </a:r>
            <a:endParaRPr sz="1450" b="1" i="0">
              <a:solidFill>
                <a:srgbClr val="0F3D2E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F3D2E"/>
                </a:solidFill>
                <a:latin typeface="Calibri" panose="020F0502020204030204"/>
              </a:rPr>
              <a:t>Limitations to discuss</a:t>
            </a:r>
            <a:endParaRPr sz="2900" b="1" i="0">
              <a:solidFill>
                <a:srgbClr val="0F3D2E"/>
              </a:solidFill>
              <a:latin typeface="Calibri" panose="020F050202020403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94360" y="1024128"/>
            <a:ext cx="777240" cy="444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5400"/>
          </a:xfrm>
          <a:prstGeom prst="rect">
            <a:avLst/>
          </a:prstGeom>
          <a:solidFill>
            <a:srgbClr val="F2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9C6B8"/>
                </a:solidFill>
                <a:latin typeface="Calibri" panose="020F0502020204030204"/>
              </a:rPr>
              <a:t>ConserveAI  ·  Capstone progress update</a:t>
            </a:r>
            <a:endParaRPr sz="1000" b="0" i="0">
              <a:solidFill>
                <a:srgbClr val="A9C6B8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9C6B8"/>
                </a:solidFill>
                <a:latin typeface="Calibri" panose="020F0502020204030204"/>
              </a:rPr>
              <a:t>9 / 9</a:t>
            </a:r>
            <a:endParaRPr sz="1000" b="0" i="0">
              <a:solidFill>
                <a:srgbClr val="A9C6B8"/>
              </a:solidFill>
              <a:latin typeface="Calibri" panose="020F0502020204030204"/>
            </a:endParaRPr>
          </a:p>
        </p:txBody>
      </p:sp>
      <p:sp>
        <p:nvSpPr>
          <p:cNvPr id="8" name="Oval 7"/>
          <p:cNvSpPr/>
          <p:nvPr/>
        </p:nvSpPr>
        <p:spPr>
          <a:xfrm>
            <a:off x="640080" y="1609344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54480"/>
            <a:ext cx="10515600" cy="6521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0F3D2E"/>
                </a:solidFill>
                <a:latin typeface="Calibri" panose="020F0502020204030204"/>
              </a:rPr>
              <a:t>Label leakage.</a:t>
            </a:r>
            <a:endParaRPr sz="1900" b="1" i="0">
              <a:solidFill>
                <a:srgbClr val="0F3D2E"/>
              </a:solidFill>
              <a:latin typeface="Calibri" panose="020F0502020204030204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1F2A37"/>
                </a:solidFill>
                <a:latin typeface="Calibri" panose="020F0502020204030204"/>
              </a:rPr>
              <a:t>Drought and vegetation labels derive from climate thresholds, </a:t>
            </a:r>
            <a:r>
              <a:rPr lang="en-GB" sz="1550" b="0" i="0">
                <a:solidFill>
                  <a:srgbClr val="1F2A37"/>
                </a:solidFill>
                <a:latin typeface="Calibri" panose="020F0502020204030204"/>
              </a:rPr>
              <a:t>so there might be label leakage</a:t>
            </a:r>
            <a:endParaRPr lang="en-GB" sz="1550" b="0" i="0">
              <a:solidFill>
                <a:srgbClr val="1F2A37"/>
              </a:solidFill>
              <a:latin typeface="Calibri" panose="020F0502020204030204"/>
            </a:endParaRPr>
          </a:p>
        </p:txBody>
      </p:sp>
      <p:sp>
        <p:nvSpPr>
          <p:cNvPr id="10" name="Oval 9"/>
          <p:cNvSpPr/>
          <p:nvPr/>
        </p:nvSpPr>
        <p:spPr>
          <a:xfrm>
            <a:off x="640080" y="2935224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8803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0F3D2E"/>
                </a:solidFill>
                <a:latin typeface="Calibri" panose="020F0502020204030204"/>
              </a:rPr>
              <a:t>Sensor-bound threat scope.</a:t>
            </a:r>
            <a:endParaRPr sz="1900" b="1" i="0">
              <a:solidFill>
                <a:srgbClr val="0F3D2E"/>
              </a:solidFill>
              <a:latin typeface="Calibri" panose="020F0502020204030204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1F2A37"/>
                </a:solidFill>
                <a:latin typeface="Calibri" panose="020F0502020204030204"/>
              </a:rPr>
              <a:t>Poaching and grazing encroachment, the threats that dominate in practice, are not remotely observable and fall outside the model.</a:t>
            </a:r>
            <a:endParaRPr sz="1550" b="0" i="0">
              <a:solidFill>
                <a:srgbClr val="1F2A37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5159</Words>
  <Application>WPS Presentation</Application>
  <PresentationFormat>On-screen Show (4:3)</PresentationFormat>
  <Paragraphs>255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8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fadhl</cp:lastModifiedBy>
  <cp:revision>2</cp:revision>
  <dcterms:created xsi:type="dcterms:W3CDTF">2013-01-27T09:14:00Z</dcterms:created>
  <dcterms:modified xsi:type="dcterms:W3CDTF">2026-06-27T10:35:02Z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71CEA7E23B3049D48DB304D39C229703_12</vt:lpwstr>
  </property>
</Properties>
</file>