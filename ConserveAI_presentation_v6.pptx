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ConserveAI forecasts fire, drought and vegetation threats for six Nigerian parks and turns each forecast into a costed plan of what to deploy and where. It is deployed and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stakes with the proposal's numbers: steep wildlife decline, almost no management evaluation, reactive and under-resourced patrols, and too little data for conventional ML. Existing tools (SMART, PAWS) do not fit.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methodological gap: prediction stops at a risk map, threats are modelled in isolation, labels are scarce, and nobody links a multi-threat forecast to a live budget-constrained plan.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offer maps one-to-one onto the gap: free-data multi-threat forecasts, semi-supervised learning for sparse labels, an ILP that turns a forecast into a zone-level plan, and explainability plus live operation.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left to right, top to bottom. Phase 1 trains the model once on 2020-2025 data; Phase 2 serves it live. Stress the temporal split (train on the past, test on genuinely future data) and Platt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dashboard features a manager actually uses. If time allows, switch to the live site and click through national overview, a park forecast, and the recommender.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this is a running product, not a notebook: deployed end to end, automated daily, and covered by tests.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F2 headline cards, then the full table: ROC-AUC is high across the board (0.98 fire, 0.97 drought), precision and recall round out the picture. Explain F2 in a line. Note the recommender is correct and fast.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label leakage as handled-but-not-eliminated: we built the safeguards (forward/backward windows, temporal split, separate thresholds), and the honest residual is that drought and vegetation lack an independent ground truth the way fire has MODIS. This shows maturity and invites direction.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2011680"/>
            <a:ext cx="5943600" cy="5943600"/>
          </a:xfrm>
          <a:prstGeom prst="ellipse">
            <a:avLst/>
          </a:prstGeom>
          <a:solidFill>
            <a:srgbClr val="155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41280" y="4206240"/>
            <a:ext cx="4114800" cy="4114800"/>
          </a:xfrm>
          <a:prstGeom prst="ellipse">
            <a:avLst/>
          </a:prstGeom>
          <a:solidFill>
            <a:srgbClr val="155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280160"/>
            <a:ext cx="1371600" cy="384048"/>
          </a:xfrm>
          <a:prstGeom prst="roundRect">
            <a:avLst/>
          </a:prstGeom>
          <a:solidFill>
            <a:srgbClr val="155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9264" y="1325880"/>
            <a:ext cx="1280160" cy="320040"/>
          </a:xfrm>
          <a:prstGeom prst="rect">
            <a:avLst/>
          </a:prstGeom>
          <a:noFill/>
        </p:spPr>
        <p:txBody>
          <a:bodyPr wrap="square" anchor="t">
            <a:spAutoFit/>
          </a:bodyPr>
          <a:lstStyle/>
          <a:p>
            <a:pPr algn="l">
              <a:spcBef>
                <a:spcPts val="0"/>
              </a:spcBef>
              <a:spcAft>
                <a:spcPts val="0"/>
              </a:spcAft>
            </a:pPr>
            <a:r>
              <a:rPr sz="1100" b="1" i="0">
                <a:solidFill>
                  <a:srgbClr val="10B981"/>
                </a:solidFill>
                <a:latin typeface="Calibri"/>
              </a:rPr>
              <a:t>● LIVE</a:t>
            </a:r>
          </a:p>
        </p:txBody>
      </p:sp>
      <p:sp>
        <p:nvSpPr>
          <p:cNvPr id="7" name="TextBox 6"/>
          <p:cNvSpPr txBox="1"/>
          <p:nvPr/>
        </p:nvSpPr>
        <p:spPr>
          <a:xfrm>
            <a:off x="822960" y="2011680"/>
            <a:ext cx="10515600" cy="1188720"/>
          </a:xfrm>
          <a:prstGeom prst="rect">
            <a:avLst/>
          </a:prstGeom>
          <a:noFill/>
        </p:spPr>
        <p:txBody>
          <a:bodyPr wrap="square" anchor="t">
            <a:spAutoFit/>
          </a:bodyPr>
          <a:lstStyle/>
          <a:p>
            <a:pPr algn="l">
              <a:spcBef>
                <a:spcPts val="0"/>
              </a:spcBef>
              <a:spcAft>
                <a:spcPts val="0"/>
              </a:spcAft>
            </a:pPr>
            <a:r>
              <a:rPr sz="5800" b="1" i="0">
                <a:solidFill>
                  <a:srgbClr val="FFFFFF"/>
                </a:solidFill>
                <a:latin typeface="Calibri"/>
              </a:rPr>
              <a:t>ConserveAI</a:t>
            </a:r>
          </a:p>
        </p:txBody>
      </p:sp>
      <p:sp>
        <p:nvSpPr>
          <p:cNvPr id="8" name="Rectangle 7"/>
          <p:cNvSpPr/>
          <p:nvPr/>
        </p:nvSpPr>
        <p:spPr>
          <a:xfrm>
            <a:off x="868680" y="3108960"/>
            <a:ext cx="1463040" cy="635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383280"/>
            <a:ext cx="10241280" cy="1188720"/>
          </a:xfrm>
          <a:prstGeom prst="rect">
            <a:avLst/>
          </a:prstGeom>
          <a:noFill/>
        </p:spPr>
        <p:txBody>
          <a:bodyPr wrap="square" anchor="t">
            <a:spAutoFit/>
          </a:bodyPr>
          <a:lstStyle/>
          <a:p>
            <a:pPr algn="l">
              <a:lnSpc>
                <a:spcPct val="115000"/>
              </a:lnSpc>
              <a:spcBef>
                <a:spcPts val="0"/>
              </a:spcBef>
              <a:spcAft>
                <a:spcPts val="0"/>
              </a:spcAft>
            </a:pPr>
            <a:r>
              <a:rPr sz="2000" b="0" i="0">
                <a:solidFill>
                  <a:srgbClr val="CFE4D8"/>
                </a:solidFill>
                <a:latin typeface="Calibri"/>
              </a:rPr>
              <a:t>Multi-threat probabilistic forecasting and budget-constrained intervention recommendation for six Nigerian national parks</a:t>
            </a:r>
          </a:p>
        </p:txBody>
      </p:sp>
      <p:sp>
        <p:nvSpPr>
          <p:cNvPr id="10" name="TextBox 9"/>
          <p:cNvSpPr txBox="1"/>
          <p:nvPr/>
        </p:nvSpPr>
        <p:spPr>
          <a:xfrm>
            <a:off x="822960" y="5440680"/>
            <a:ext cx="10058400" cy="914400"/>
          </a:xfrm>
          <a:prstGeom prst="rect">
            <a:avLst/>
          </a:prstGeom>
          <a:noFill/>
        </p:spPr>
        <p:txBody>
          <a:bodyPr wrap="square" anchor="t">
            <a:spAutoFit/>
          </a:bodyPr>
          <a:lstStyle/>
          <a:p>
            <a:pPr algn="l">
              <a:spcBef>
                <a:spcPts val="0"/>
              </a:spcBef>
              <a:spcAft>
                <a:spcPts val="600"/>
              </a:spcAft>
            </a:pPr>
            <a:r>
              <a:rPr sz="1400" b="0" i="0">
                <a:solidFill>
                  <a:srgbClr val="A9C6B8"/>
                </a:solidFill>
                <a:latin typeface="Calibri"/>
              </a:rPr>
              <a:t>Fadhlullah Olusola Abdulazeez   ·   BSc Software Engineering   ·   Supervisor: Mr. Emmanuel Adjei</a:t>
            </a:r>
          </a:p>
          <a:p>
            <a:pPr algn="l">
              <a:spcBef>
                <a:spcPts val="0"/>
              </a:spcBef>
              <a:spcAft>
                <a:spcPts val="0"/>
              </a:spcAft>
            </a:pPr>
            <a:r>
              <a:rPr sz="1400" b="1" i="0">
                <a:solidFill>
                  <a:srgbClr val="10B981"/>
                </a:solidFill>
                <a:latin typeface="Calibri"/>
              </a:rPr>
              <a:t>Live demo:  conserve-ai.vercel.app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731520"/>
          </a:xfrm>
          <a:prstGeom prst="rect">
            <a:avLst/>
          </a:prstGeom>
          <a:noFill/>
        </p:spPr>
        <p:txBody>
          <a:bodyPr wrap="square" anchor="t">
            <a:spAutoFit/>
          </a:bodyPr>
          <a:lstStyle/>
          <a:p>
            <a:pPr algn="l">
              <a:spcBef>
                <a:spcPts val="0"/>
              </a:spcBef>
              <a:spcAft>
                <a:spcPts val="0"/>
              </a:spcAft>
            </a:pPr>
            <a:r>
              <a:rPr sz="2900" b="1" i="0">
                <a:solidFill>
                  <a:srgbClr val="0F3D2E"/>
                </a:solidFill>
                <a:latin typeface="Calibri"/>
              </a:rPr>
              <a:t>The problem</a:t>
            </a:r>
          </a:p>
        </p:txBody>
      </p:sp>
      <p:sp>
        <p:nvSpPr>
          <p:cNvPr id="4" name="Rectangle 3"/>
          <p:cNvSpPr/>
          <p:nvPr/>
        </p:nvSpPr>
        <p:spPr>
          <a:xfrm>
            <a:off x="594360" y="1024128"/>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515600" y="6400800"/>
            <a:ext cx="118872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2 / 9</a:t>
            </a:r>
          </a:p>
        </p:txBody>
      </p:sp>
      <p:sp>
        <p:nvSpPr>
          <p:cNvPr id="8" name="Oval 7"/>
          <p:cNvSpPr/>
          <p:nvPr/>
        </p:nvSpPr>
        <p:spPr>
          <a:xfrm>
            <a:off x="640080" y="151790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46304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Nigerian parks are losing wildlife fast.</a:t>
            </a:r>
          </a:p>
          <a:p>
            <a:pPr algn="l">
              <a:lnSpc>
                <a:spcPct val="102000"/>
              </a:lnSpc>
              <a:spcBef>
                <a:spcPts val="0"/>
              </a:spcBef>
              <a:spcAft>
                <a:spcPts val="0"/>
              </a:spcAft>
            </a:pPr>
            <a:r>
              <a:rPr sz="1450" b="0" i="0">
                <a:solidFill>
                  <a:srgbClr val="1F2A37"/>
                </a:solidFill>
                <a:latin typeface="Calibri"/>
              </a:rPr>
              <a:t>African protected areas lost on average 59% of large mammals between 1970 and 2005, and only 1.71% of Nigeria's protected land has ever had its management evaluated.</a:t>
            </a:r>
          </a:p>
        </p:txBody>
      </p:sp>
      <p:sp>
        <p:nvSpPr>
          <p:cNvPr id="10" name="Oval 9"/>
          <p:cNvSpPr/>
          <p:nvPr/>
        </p:nvSpPr>
        <p:spPr>
          <a:xfrm>
            <a:off x="640080" y="270662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65176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Management is reactive and thinly stretched.</a:t>
            </a:r>
          </a:p>
          <a:p>
            <a:pPr algn="l">
              <a:lnSpc>
                <a:spcPct val="102000"/>
              </a:lnSpc>
              <a:spcBef>
                <a:spcPts val="0"/>
              </a:spcBef>
              <a:spcAft>
                <a:spcPts val="0"/>
              </a:spcAft>
            </a:pPr>
            <a:r>
              <a:rPr sz="1450" b="0" i="0">
                <a:solidFill>
                  <a:srgbClr val="1F2A37"/>
                </a:solidFill>
                <a:latin typeface="Calibri"/>
              </a:rPr>
              <a:t>Threats are recorded after the damage by patrols that cover little ground (Yankari has about 60 rangers for 2,244 km square).</a:t>
            </a:r>
          </a:p>
        </p:txBody>
      </p:sp>
      <p:sp>
        <p:nvSpPr>
          <p:cNvPr id="12" name="Oval 11"/>
          <p:cNvSpPr/>
          <p:nvPr/>
        </p:nvSpPr>
        <p:spPr>
          <a:xfrm>
            <a:off x="640080" y="389534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84048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There is too little data to train on.</a:t>
            </a:r>
          </a:p>
          <a:p>
            <a:pPr algn="l">
              <a:lnSpc>
                <a:spcPct val="102000"/>
              </a:lnSpc>
              <a:spcBef>
                <a:spcPts val="0"/>
              </a:spcBef>
              <a:spcAft>
                <a:spcPts val="0"/>
              </a:spcAft>
            </a:pPr>
            <a:r>
              <a:rPr sz="1450" b="0" i="0">
                <a:solidFill>
                  <a:srgbClr val="1F2A37"/>
                </a:solidFill>
                <a:latin typeface="Calibri"/>
              </a:rPr>
              <a:t>Fewer than 300 biodiversity records exist per Nigerian park, so conventional supervised machine learning cannot be trained reliably.</a:t>
            </a:r>
          </a:p>
        </p:txBody>
      </p:sp>
      <p:sp>
        <p:nvSpPr>
          <p:cNvPr id="14" name="Oval 13"/>
          <p:cNvSpPr/>
          <p:nvPr/>
        </p:nvSpPr>
        <p:spPr>
          <a:xfrm>
            <a:off x="640080" y="508406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502920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Existing tools do not fit.</a:t>
            </a:r>
          </a:p>
          <a:p>
            <a:pPr algn="l">
              <a:lnSpc>
                <a:spcPct val="102000"/>
              </a:lnSpc>
              <a:spcBef>
                <a:spcPts val="0"/>
              </a:spcBef>
              <a:spcAft>
                <a:spcPts val="0"/>
              </a:spcAft>
            </a:pPr>
            <a:r>
              <a:rPr sz="1450" b="0" i="0">
                <a:solidFill>
                  <a:srgbClr val="1F2A37"/>
                </a:solidFill>
                <a:latin typeface="Calibri"/>
              </a:rPr>
              <a:t>SMART only records the past; PAWS forecasts poaching but needs incident histories these parks lack. Neither handles fire, drought or vegetation, and neither plans a budget.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731520"/>
          </a:xfrm>
          <a:prstGeom prst="rect">
            <a:avLst/>
          </a:prstGeom>
          <a:noFill/>
        </p:spPr>
        <p:txBody>
          <a:bodyPr wrap="square" anchor="t">
            <a:spAutoFit/>
          </a:bodyPr>
          <a:lstStyle/>
          <a:p>
            <a:pPr algn="l">
              <a:spcBef>
                <a:spcPts val="0"/>
              </a:spcBef>
              <a:spcAft>
                <a:spcPts val="0"/>
              </a:spcAft>
            </a:pPr>
            <a:r>
              <a:rPr sz="2900" b="1" i="0">
                <a:solidFill>
                  <a:srgbClr val="0F3D2E"/>
                </a:solidFill>
                <a:latin typeface="Calibri"/>
              </a:rPr>
              <a:t>The ML gap</a:t>
            </a:r>
          </a:p>
        </p:txBody>
      </p:sp>
      <p:sp>
        <p:nvSpPr>
          <p:cNvPr id="4" name="Rectangle 3"/>
          <p:cNvSpPr/>
          <p:nvPr/>
        </p:nvSpPr>
        <p:spPr>
          <a:xfrm>
            <a:off x="594360" y="1024128"/>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515600" y="6400800"/>
            <a:ext cx="118872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3 / 9</a:t>
            </a:r>
          </a:p>
        </p:txBody>
      </p:sp>
      <p:sp>
        <p:nvSpPr>
          <p:cNvPr id="8" name="Oval 7"/>
          <p:cNvSpPr/>
          <p:nvPr/>
        </p:nvSpPr>
        <p:spPr>
          <a:xfrm>
            <a:off x="640080" y="151790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46304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Prediction stops at a risk map.</a:t>
            </a:r>
          </a:p>
          <a:p>
            <a:pPr algn="l">
              <a:lnSpc>
                <a:spcPct val="102000"/>
              </a:lnSpc>
              <a:spcBef>
                <a:spcPts val="0"/>
              </a:spcBef>
              <a:spcAft>
                <a:spcPts val="0"/>
              </a:spcAft>
            </a:pPr>
            <a:r>
              <a:rPr sz="1450" b="0" i="0">
                <a:solidFill>
                  <a:srgbClr val="1F2A37"/>
                </a:solidFill>
                <a:latin typeface="Calibri"/>
              </a:rPr>
              <a:t>Models output risk and stop. They do not say what to deploy, where, or within a budget.</a:t>
            </a:r>
          </a:p>
        </p:txBody>
      </p:sp>
      <p:sp>
        <p:nvSpPr>
          <p:cNvPr id="10" name="Oval 9"/>
          <p:cNvSpPr/>
          <p:nvPr/>
        </p:nvSpPr>
        <p:spPr>
          <a:xfrm>
            <a:off x="640080" y="270662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65176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Threats are studied in isolation.</a:t>
            </a:r>
          </a:p>
          <a:p>
            <a:pPr algn="l">
              <a:lnSpc>
                <a:spcPct val="102000"/>
              </a:lnSpc>
              <a:spcBef>
                <a:spcPts val="0"/>
              </a:spcBef>
              <a:spcAft>
                <a:spcPts val="0"/>
              </a:spcAft>
            </a:pPr>
            <a:r>
              <a:rPr sz="1450" b="0" i="0">
                <a:solidFill>
                  <a:srgbClr val="1F2A37"/>
                </a:solidFill>
                <a:latin typeface="Calibri"/>
              </a:rPr>
              <a:t>Fire, drought and vegetation are modelled separately, yet one park faces all three under a single budget.</a:t>
            </a:r>
          </a:p>
        </p:txBody>
      </p:sp>
      <p:sp>
        <p:nvSpPr>
          <p:cNvPr id="12" name="Oval 11"/>
          <p:cNvSpPr/>
          <p:nvPr/>
        </p:nvSpPr>
        <p:spPr>
          <a:xfrm>
            <a:off x="640080" y="389534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84048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Sparse labels block supervised learning.</a:t>
            </a:r>
          </a:p>
          <a:p>
            <a:pPr algn="l">
              <a:lnSpc>
                <a:spcPct val="102000"/>
              </a:lnSpc>
              <a:spcBef>
                <a:spcPts val="0"/>
              </a:spcBef>
              <a:spcAft>
                <a:spcPts val="0"/>
              </a:spcAft>
            </a:pPr>
            <a:r>
              <a:rPr sz="1450" b="0" i="0">
                <a:solidFill>
                  <a:srgbClr val="1F2A37"/>
                </a:solidFill>
                <a:latin typeface="Calibri"/>
              </a:rPr>
              <a:t>Documented threat events are rare and uneven, so standard supervised training is unreliable in this setting.</a:t>
            </a:r>
          </a:p>
        </p:txBody>
      </p:sp>
      <p:sp>
        <p:nvSpPr>
          <p:cNvPr id="14" name="Oval 13"/>
          <p:cNvSpPr/>
          <p:nvPr/>
        </p:nvSpPr>
        <p:spPr>
          <a:xfrm>
            <a:off x="640080" y="508406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502920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No one links forecast to decision, live.</a:t>
            </a:r>
          </a:p>
          <a:p>
            <a:pPr algn="l">
              <a:lnSpc>
                <a:spcPct val="102000"/>
              </a:lnSpc>
              <a:spcBef>
                <a:spcPts val="0"/>
              </a:spcBef>
              <a:spcAft>
                <a:spcPts val="0"/>
              </a:spcAft>
            </a:pPr>
            <a:r>
              <a:rPr sz="1450" b="0" i="0">
                <a:solidFill>
                  <a:srgbClr val="1F2A37"/>
                </a:solidFill>
                <a:latin typeface="Calibri"/>
              </a:rPr>
              <a:t>No published system couples multi-threat forecasting with budget-constrained, zone-level recommendation, running live for a data-scarce park.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731520"/>
          </a:xfrm>
          <a:prstGeom prst="rect">
            <a:avLst/>
          </a:prstGeom>
          <a:noFill/>
        </p:spPr>
        <p:txBody>
          <a:bodyPr wrap="square" anchor="t">
            <a:spAutoFit/>
          </a:bodyPr>
          <a:lstStyle/>
          <a:p>
            <a:pPr algn="l">
              <a:spcBef>
                <a:spcPts val="0"/>
              </a:spcBef>
              <a:spcAft>
                <a:spcPts val="0"/>
              </a:spcAft>
            </a:pPr>
            <a:r>
              <a:rPr sz="2900" b="1" i="0">
                <a:solidFill>
                  <a:srgbClr val="0F3D2E"/>
                </a:solidFill>
                <a:latin typeface="Calibri"/>
              </a:rPr>
              <a:t>What our solution offers</a:t>
            </a:r>
          </a:p>
        </p:txBody>
      </p:sp>
      <p:sp>
        <p:nvSpPr>
          <p:cNvPr id="4" name="Rectangle 3"/>
          <p:cNvSpPr/>
          <p:nvPr/>
        </p:nvSpPr>
        <p:spPr>
          <a:xfrm>
            <a:off x="594360" y="1024128"/>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515600" y="6400800"/>
            <a:ext cx="118872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4 / 9</a:t>
            </a:r>
          </a:p>
        </p:txBody>
      </p:sp>
      <p:sp>
        <p:nvSpPr>
          <p:cNvPr id="8" name="Oval 7"/>
          <p:cNvSpPr/>
          <p:nvPr/>
        </p:nvSpPr>
        <p:spPr>
          <a:xfrm>
            <a:off x="640080" y="151790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46304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Multi-threat 30-day forecasts from free data.</a:t>
            </a:r>
          </a:p>
          <a:p>
            <a:pPr algn="l">
              <a:lnSpc>
                <a:spcPct val="102000"/>
              </a:lnSpc>
              <a:spcBef>
                <a:spcPts val="0"/>
              </a:spcBef>
              <a:spcAft>
                <a:spcPts val="0"/>
              </a:spcAft>
            </a:pPr>
            <a:r>
              <a:rPr sz="1450" b="0" i="0">
                <a:solidFill>
                  <a:srgbClr val="1F2A37"/>
                </a:solidFill>
                <a:latin typeface="Calibri"/>
              </a:rPr>
              <a:t>Daily fire, drought and vegetation risk for six parks, built on Open-Meteo, NASA POWER, Google Earth Engine and MODIS fire products.</a:t>
            </a:r>
          </a:p>
        </p:txBody>
      </p:sp>
      <p:sp>
        <p:nvSpPr>
          <p:cNvPr id="10" name="Oval 9"/>
          <p:cNvSpPr/>
          <p:nvPr/>
        </p:nvSpPr>
        <p:spPr>
          <a:xfrm>
            <a:off x="640080" y="270662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65176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Learning that works with few labels.</a:t>
            </a:r>
          </a:p>
          <a:p>
            <a:pPr algn="l">
              <a:lnSpc>
                <a:spcPct val="102000"/>
              </a:lnSpc>
              <a:spcBef>
                <a:spcPts val="0"/>
              </a:spcBef>
              <a:spcAft>
                <a:spcPts val="0"/>
              </a:spcAft>
            </a:pPr>
            <a:r>
              <a:rPr sz="1450" b="0" i="0">
                <a:solidFill>
                  <a:srgbClr val="1F2A37"/>
                </a:solidFill>
                <a:latin typeface="Calibri"/>
              </a:rPr>
              <a:t>Hybrid labeling plus a self-training semi-supervised model exploit the abundant unlabelled park-days.</a:t>
            </a:r>
          </a:p>
        </p:txBody>
      </p:sp>
      <p:sp>
        <p:nvSpPr>
          <p:cNvPr id="12" name="Oval 11"/>
          <p:cNvSpPr/>
          <p:nvPr/>
        </p:nvSpPr>
        <p:spPr>
          <a:xfrm>
            <a:off x="640080" y="389534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84048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A plan, not just a prediction.</a:t>
            </a:r>
          </a:p>
          <a:p>
            <a:pPr algn="l">
              <a:lnSpc>
                <a:spcPct val="102000"/>
              </a:lnSpc>
              <a:spcBef>
                <a:spcPts val="0"/>
              </a:spcBef>
              <a:spcAft>
                <a:spcPts val="0"/>
              </a:spcAft>
            </a:pPr>
            <a:r>
              <a:rPr sz="1450" b="0" i="0">
                <a:solidFill>
                  <a:srgbClr val="1F2A37"/>
                </a:solidFill>
                <a:latin typeface="Calibri"/>
              </a:rPr>
              <a:t>A budget-constrained integer linear program returns the intervention mix that cuts the most risk, allocated across four zones per park.</a:t>
            </a:r>
          </a:p>
        </p:txBody>
      </p:sp>
      <p:sp>
        <p:nvSpPr>
          <p:cNvPr id="14" name="Oval 13"/>
          <p:cNvSpPr/>
          <p:nvPr/>
        </p:nvSpPr>
        <p:spPr>
          <a:xfrm>
            <a:off x="640080" y="508406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5029200"/>
            <a:ext cx="10515600" cy="1097280"/>
          </a:xfrm>
          <a:prstGeom prst="rect">
            <a:avLst/>
          </a:prstGeom>
          <a:noFill/>
        </p:spPr>
        <p:txBody>
          <a:bodyPr wrap="square" anchor="t">
            <a:spAutoFit/>
          </a:bodyPr>
          <a:lstStyle/>
          <a:p>
            <a:pPr algn="l">
              <a:spcBef>
                <a:spcPts val="0"/>
              </a:spcBef>
              <a:spcAft>
                <a:spcPts val="200"/>
              </a:spcAft>
            </a:pPr>
            <a:r>
              <a:rPr sz="1800" b="1" i="0">
                <a:solidFill>
                  <a:srgbClr val="0F3D2E"/>
                </a:solidFill>
                <a:latin typeface="Calibri"/>
              </a:rPr>
              <a:t>Explainable and live.</a:t>
            </a:r>
          </a:p>
          <a:p>
            <a:pPr algn="l">
              <a:lnSpc>
                <a:spcPct val="102000"/>
              </a:lnSpc>
              <a:spcBef>
                <a:spcPts val="0"/>
              </a:spcBef>
              <a:spcAft>
                <a:spcPts val="0"/>
              </a:spcAft>
            </a:pPr>
            <a:r>
              <a:rPr sz="1450" b="0" i="0">
                <a:solidFill>
                  <a:srgbClr val="1F2A37"/>
                </a:solidFill>
                <a:latin typeface="Calibri"/>
              </a:rPr>
              <a:t>Per-threat drivers justify each forecast, and a daily scheduled pipeline keeps the dashboard current without manual steps.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731520"/>
          </a:xfrm>
          <a:prstGeom prst="rect">
            <a:avLst/>
          </a:prstGeom>
          <a:noFill/>
        </p:spPr>
        <p:txBody>
          <a:bodyPr wrap="square" anchor="t">
            <a:spAutoFit/>
          </a:bodyPr>
          <a:lstStyle/>
          <a:p>
            <a:pPr algn="l">
              <a:spcBef>
                <a:spcPts val="0"/>
              </a:spcBef>
              <a:spcAft>
                <a:spcPts val="0"/>
              </a:spcAft>
            </a:pPr>
            <a:r>
              <a:rPr sz="2900" b="1" i="0">
                <a:solidFill>
                  <a:srgbClr val="0F3D2E"/>
                </a:solidFill>
                <a:latin typeface="Calibri"/>
              </a:rPr>
              <a:t>Machine-learning pipeline</a:t>
            </a:r>
          </a:p>
        </p:txBody>
      </p:sp>
      <p:sp>
        <p:nvSpPr>
          <p:cNvPr id="4" name="Rectangle 3"/>
          <p:cNvSpPr/>
          <p:nvPr/>
        </p:nvSpPr>
        <p:spPr>
          <a:xfrm>
            <a:off x="594360" y="1024128"/>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97280"/>
            <a:ext cx="10972800" cy="365760"/>
          </a:xfrm>
          <a:prstGeom prst="rect">
            <a:avLst/>
          </a:prstGeom>
          <a:noFill/>
        </p:spPr>
        <p:txBody>
          <a:bodyPr wrap="square" anchor="t">
            <a:spAutoFit/>
          </a:bodyPr>
          <a:lstStyle/>
          <a:p>
            <a:pPr algn="l">
              <a:spcBef>
                <a:spcPts val="0"/>
              </a:spcBef>
              <a:spcAft>
                <a:spcPts val="0"/>
              </a:spcAft>
            </a:pPr>
            <a:r>
              <a:rPr sz="1300" b="0" i="1">
                <a:solidFill>
                  <a:srgbClr val="556577"/>
                </a:solidFill>
                <a:latin typeface="Calibri"/>
              </a:rPr>
              <a:t>From free satellite and climate data to a calibrated 30-day forecast and a costed plan.</a:t>
            </a:r>
          </a:p>
        </p:txBody>
      </p:sp>
      <p:sp>
        <p:nvSpPr>
          <p:cNvPr id="6" name="Rectangle 5"/>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8" name="TextBox 7"/>
          <p:cNvSpPr txBox="1"/>
          <p:nvPr/>
        </p:nvSpPr>
        <p:spPr>
          <a:xfrm>
            <a:off x="10515600" y="6400800"/>
            <a:ext cx="118872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5 / 9</a:t>
            </a:r>
          </a:p>
        </p:txBody>
      </p:sp>
      <p:sp>
        <p:nvSpPr>
          <p:cNvPr id="9" name="TextBox 8"/>
          <p:cNvSpPr txBox="1"/>
          <p:nvPr/>
        </p:nvSpPr>
        <p:spPr>
          <a:xfrm>
            <a:off x="566928" y="1600200"/>
            <a:ext cx="10972800" cy="320040"/>
          </a:xfrm>
          <a:prstGeom prst="rect">
            <a:avLst/>
          </a:prstGeom>
          <a:noFill/>
        </p:spPr>
        <p:txBody>
          <a:bodyPr wrap="square" anchor="t">
            <a:spAutoFit/>
          </a:bodyPr>
          <a:lstStyle/>
          <a:p>
            <a:pPr algn="l">
              <a:spcBef>
                <a:spcPts val="0"/>
              </a:spcBef>
              <a:spcAft>
                <a:spcPts val="0"/>
              </a:spcAft>
            </a:pPr>
            <a:r>
              <a:rPr sz="1200" b="1" i="0">
                <a:solidFill>
                  <a:srgbClr val="10B981"/>
                </a:solidFill>
                <a:latin typeface="Calibri"/>
              </a:rPr>
              <a:t>PHASE 1  ·  TRAIN</a:t>
            </a:r>
          </a:p>
        </p:txBody>
      </p:sp>
      <p:sp>
        <p:nvSpPr>
          <p:cNvPr id="10" name="Rounded Rectangle 9"/>
          <p:cNvSpPr/>
          <p:nvPr/>
        </p:nvSpPr>
        <p:spPr>
          <a:xfrm>
            <a:off x="502920" y="1965960"/>
            <a:ext cx="2103120" cy="109728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Free data</a:t>
            </a:r>
          </a:p>
          <a:p>
            <a:pPr algn="ctr">
              <a:spcBef>
                <a:spcPts val="200"/>
              </a:spcBef>
            </a:pPr>
            <a:r>
              <a:rPr sz="850">
                <a:solidFill>
                  <a:srgbClr val="CFE4D8"/>
                </a:solidFill>
                <a:latin typeface="Calibri"/>
              </a:rPr>
              <a:t>Open-Meteo, NASA
POWER, GEE, MODIS</a:t>
            </a:r>
          </a:p>
        </p:txBody>
      </p:sp>
      <p:sp>
        <p:nvSpPr>
          <p:cNvPr id="11" name="TextBox 10"/>
          <p:cNvSpPr txBox="1"/>
          <p:nvPr/>
        </p:nvSpPr>
        <p:spPr>
          <a:xfrm>
            <a:off x="2569464" y="2377440"/>
            <a:ext cx="320040" cy="365760"/>
          </a:xfrm>
          <a:prstGeom prst="rect">
            <a:avLst/>
          </a:prstGeom>
          <a:noFill/>
        </p:spPr>
        <p:txBody>
          <a:bodyPr wrap="square" anchor="t">
            <a:spAutoFit/>
          </a:bodyPr>
          <a:lstStyle/>
          <a:p>
            <a:pPr algn="ctr">
              <a:spcBef>
                <a:spcPts val="0"/>
              </a:spcBef>
              <a:spcAft>
                <a:spcPts val="0"/>
              </a:spcAft>
            </a:pPr>
            <a:r>
              <a:rPr sz="1400" b="0" i="0">
                <a:solidFill>
                  <a:srgbClr val="10B981"/>
                </a:solidFill>
                <a:latin typeface="Calibri"/>
              </a:rPr>
              <a:t>▶</a:t>
            </a:r>
          </a:p>
        </p:txBody>
      </p:sp>
      <p:sp>
        <p:nvSpPr>
          <p:cNvPr id="12" name="Rounded Rectangle 11"/>
          <p:cNvSpPr/>
          <p:nvPr/>
        </p:nvSpPr>
        <p:spPr>
          <a:xfrm>
            <a:off x="2834640" y="1965960"/>
            <a:ext cx="2103120" cy="109728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Feature eng.</a:t>
            </a:r>
          </a:p>
          <a:p>
            <a:pPr algn="ctr">
              <a:spcBef>
                <a:spcPts val="200"/>
              </a:spcBef>
            </a:pPr>
            <a:r>
              <a:rPr sz="850">
                <a:solidFill>
                  <a:srgbClr val="CFE4D8"/>
                </a:solidFill>
                <a:latin typeface="Calibri"/>
              </a:rPr>
              <a:t>20 features
per park-day</a:t>
            </a:r>
          </a:p>
        </p:txBody>
      </p:sp>
      <p:sp>
        <p:nvSpPr>
          <p:cNvPr id="13" name="TextBox 12"/>
          <p:cNvSpPr txBox="1"/>
          <p:nvPr/>
        </p:nvSpPr>
        <p:spPr>
          <a:xfrm>
            <a:off x="4901184" y="2377440"/>
            <a:ext cx="320040" cy="365760"/>
          </a:xfrm>
          <a:prstGeom prst="rect">
            <a:avLst/>
          </a:prstGeom>
          <a:noFill/>
        </p:spPr>
        <p:txBody>
          <a:bodyPr wrap="square" anchor="t">
            <a:spAutoFit/>
          </a:bodyPr>
          <a:lstStyle/>
          <a:p>
            <a:pPr algn="ctr">
              <a:spcBef>
                <a:spcPts val="0"/>
              </a:spcBef>
              <a:spcAft>
                <a:spcPts val="0"/>
              </a:spcAft>
            </a:pPr>
            <a:r>
              <a:rPr sz="1400" b="0" i="0">
                <a:solidFill>
                  <a:srgbClr val="10B981"/>
                </a:solidFill>
                <a:latin typeface="Calibri"/>
              </a:rPr>
              <a:t>▶</a:t>
            </a:r>
          </a:p>
        </p:txBody>
      </p:sp>
      <p:sp>
        <p:nvSpPr>
          <p:cNvPr id="14" name="Rounded Rectangle 13"/>
          <p:cNvSpPr/>
          <p:nvPr/>
        </p:nvSpPr>
        <p:spPr>
          <a:xfrm>
            <a:off x="5166360" y="1965960"/>
            <a:ext cx="2103120" cy="109728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Label build</a:t>
            </a:r>
          </a:p>
          <a:p>
            <a:pPr algn="ctr">
              <a:spcBef>
                <a:spcPts val="200"/>
              </a:spcBef>
            </a:pPr>
            <a:r>
              <a:rPr sz="850">
                <a:solidFill>
                  <a:srgbClr val="CFE4D8"/>
                </a:solidFill>
                <a:latin typeface="Calibri"/>
              </a:rPr>
              <a:t>MODIS fire, climate
&amp; NDVI thresholds</a:t>
            </a:r>
          </a:p>
        </p:txBody>
      </p:sp>
      <p:sp>
        <p:nvSpPr>
          <p:cNvPr id="15" name="TextBox 14"/>
          <p:cNvSpPr txBox="1"/>
          <p:nvPr/>
        </p:nvSpPr>
        <p:spPr>
          <a:xfrm>
            <a:off x="7232904" y="2377440"/>
            <a:ext cx="320040" cy="365760"/>
          </a:xfrm>
          <a:prstGeom prst="rect">
            <a:avLst/>
          </a:prstGeom>
          <a:noFill/>
        </p:spPr>
        <p:txBody>
          <a:bodyPr wrap="square" anchor="t">
            <a:spAutoFit/>
          </a:bodyPr>
          <a:lstStyle/>
          <a:p>
            <a:pPr algn="ctr">
              <a:spcBef>
                <a:spcPts val="0"/>
              </a:spcBef>
              <a:spcAft>
                <a:spcPts val="0"/>
              </a:spcAft>
            </a:pPr>
            <a:r>
              <a:rPr sz="1400" b="0" i="0">
                <a:solidFill>
                  <a:srgbClr val="10B981"/>
                </a:solidFill>
                <a:latin typeface="Calibri"/>
              </a:rPr>
              <a:t>▶</a:t>
            </a:r>
          </a:p>
        </p:txBody>
      </p:sp>
      <p:sp>
        <p:nvSpPr>
          <p:cNvPr id="16" name="Rounded Rectangle 15"/>
          <p:cNvSpPr/>
          <p:nvPr/>
        </p:nvSpPr>
        <p:spPr>
          <a:xfrm>
            <a:off x="7498080" y="1965960"/>
            <a:ext cx="2103120" cy="109728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Temporal split</a:t>
            </a:r>
          </a:p>
          <a:p>
            <a:pPr algn="ctr">
              <a:spcBef>
                <a:spcPts val="200"/>
              </a:spcBef>
            </a:pPr>
            <a:r>
              <a:rPr sz="850">
                <a:solidFill>
                  <a:srgbClr val="CFE4D8"/>
                </a:solidFill>
                <a:latin typeface="Calibri"/>
              </a:rPr>
              <a:t>train 2020-23
test 2024-25</a:t>
            </a:r>
          </a:p>
        </p:txBody>
      </p:sp>
      <p:sp>
        <p:nvSpPr>
          <p:cNvPr id="17" name="TextBox 16"/>
          <p:cNvSpPr txBox="1"/>
          <p:nvPr/>
        </p:nvSpPr>
        <p:spPr>
          <a:xfrm>
            <a:off x="9564624" y="2377440"/>
            <a:ext cx="320040" cy="365760"/>
          </a:xfrm>
          <a:prstGeom prst="rect">
            <a:avLst/>
          </a:prstGeom>
          <a:noFill/>
        </p:spPr>
        <p:txBody>
          <a:bodyPr wrap="square" anchor="t">
            <a:spAutoFit/>
          </a:bodyPr>
          <a:lstStyle/>
          <a:p>
            <a:pPr algn="ctr">
              <a:spcBef>
                <a:spcPts val="0"/>
              </a:spcBef>
              <a:spcAft>
                <a:spcPts val="0"/>
              </a:spcAft>
            </a:pPr>
            <a:r>
              <a:rPr sz="1400" b="0" i="0">
                <a:solidFill>
                  <a:srgbClr val="10B981"/>
                </a:solidFill>
                <a:latin typeface="Calibri"/>
              </a:rPr>
              <a:t>▶</a:t>
            </a:r>
          </a:p>
        </p:txBody>
      </p:sp>
      <p:sp>
        <p:nvSpPr>
          <p:cNvPr id="18" name="Rounded Rectangle 17"/>
          <p:cNvSpPr/>
          <p:nvPr/>
        </p:nvSpPr>
        <p:spPr>
          <a:xfrm>
            <a:off x="9829800" y="1965960"/>
            <a:ext cx="2103120" cy="109728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Model training</a:t>
            </a:r>
          </a:p>
          <a:p>
            <a:pPr algn="ctr">
              <a:spcBef>
                <a:spcPts val="200"/>
              </a:spcBef>
            </a:pPr>
            <a:r>
              <a:rPr sz="850">
                <a:solidFill>
                  <a:srgbClr val="CFE4D8"/>
                </a:solidFill>
                <a:latin typeface="Calibri"/>
              </a:rPr>
              <a:t>RF / XGB / LSTM / Trf
sup + semi-sup</a:t>
            </a:r>
          </a:p>
        </p:txBody>
      </p:sp>
      <p:sp>
        <p:nvSpPr>
          <p:cNvPr id="19" name="TextBox 18"/>
          <p:cNvSpPr txBox="1"/>
          <p:nvPr/>
        </p:nvSpPr>
        <p:spPr>
          <a:xfrm>
            <a:off x="566928" y="3337560"/>
            <a:ext cx="10972800" cy="365760"/>
          </a:xfrm>
          <a:prstGeom prst="rect">
            <a:avLst/>
          </a:prstGeom>
          <a:noFill/>
        </p:spPr>
        <p:txBody>
          <a:bodyPr wrap="square" anchor="t">
            <a:spAutoFit/>
          </a:bodyPr>
          <a:lstStyle/>
          <a:p>
            <a:pPr algn="l">
              <a:spcBef>
                <a:spcPts val="0"/>
              </a:spcBef>
              <a:spcAft>
                <a:spcPts val="0"/>
              </a:spcAft>
            </a:pPr>
            <a:r>
              <a:rPr sz="1600" b="0" i="0">
                <a:solidFill>
                  <a:srgbClr val="10B981"/>
                </a:solidFill>
                <a:latin typeface="Calibri"/>
              </a:rPr>
              <a:t>▼</a:t>
            </a:r>
          </a:p>
        </p:txBody>
      </p:sp>
      <p:sp>
        <p:nvSpPr>
          <p:cNvPr id="20" name="TextBox 19"/>
          <p:cNvSpPr txBox="1"/>
          <p:nvPr/>
        </p:nvSpPr>
        <p:spPr>
          <a:xfrm>
            <a:off x="566928" y="3703320"/>
            <a:ext cx="10972800" cy="320040"/>
          </a:xfrm>
          <a:prstGeom prst="rect">
            <a:avLst/>
          </a:prstGeom>
          <a:noFill/>
        </p:spPr>
        <p:txBody>
          <a:bodyPr wrap="square" anchor="t">
            <a:spAutoFit/>
          </a:bodyPr>
          <a:lstStyle/>
          <a:p>
            <a:pPr algn="l">
              <a:spcBef>
                <a:spcPts val="0"/>
              </a:spcBef>
              <a:spcAft>
                <a:spcPts val="0"/>
              </a:spcAft>
            </a:pPr>
            <a:r>
              <a:rPr sz="1200" b="1" i="0">
                <a:solidFill>
                  <a:srgbClr val="10B981"/>
                </a:solidFill>
                <a:latin typeface="Calibri"/>
              </a:rPr>
              <a:t>PHASE 2  ·  SERVE</a:t>
            </a:r>
          </a:p>
        </p:txBody>
      </p:sp>
      <p:sp>
        <p:nvSpPr>
          <p:cNvPr id="21" name="Rounded Rectangle 20"/>
          <p:cNvSpPr/>
          <p:nvPr/>
        </p:nvSpPr>
        <p:spPr>
          <a:xfrm>
            <a:off x="1051560" y="4069080"/>
            <a:ext cx="2377440" cy="109728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Calibration</a:t>
            </a:r>
          </a:p>
          <a:p>
            <a:pPr algn="ctr">
              <a:spcBef>
                <a:spcPts val="200"/>
              </a:spcBef>
            </a:pPr>
            <a:r>
              <a:rPr sz="850">
                <a:solidFill>
                  <a:srgbClr val="CFE4D8"/>
                </a:solidFill>
                <a:latin typeface="Calibri"/>
              </a:rPr>
              <a:t>Platt scaling</a:t>
            </a:r>
          </a:p>
        </p:txBody>
      </p:sp>
      <p:sp>
        <p:nvSpPr>
          <p:cNvPr id="22" name="TextBox 21"/>
          <p:cNvSpPr txBox="1"/>
          <p:nvPr/>
        </p:nvSpPr>
        <p:spPr>
          <a:xfrm>
            <a:off x="3374136" y="4480560"/>
            <a:ext cx="384048" cy="365760"/>
          </a:xfrm>
          <a:prstGeom prst="rect">
            <a:avLst/>
          </a:prstGeom>
          <a:noFill/>
        </p:spPr>
        <p:txBody>
          <a:bodyPr wrap="square" anchor="t">
            <a:spAutoFit/>
          </a:bodyPr>
          <a:lstStyle/>
          <a:p>
            <a:pPr algn="ctr">
              <a:spcBef>
                <a:spcPts val="0"/>
              </a:spcBef>
              <a:spcAft>
                <a:spcPts val="0"/>
              </a:spcAft>
            </a:pPr>
            <a:r>
              <a:rPr sz="1400" b="0" i="0">
                <a:solidFill>
                  <a:srgbClr val="10B981"/>
                </a:solidFill>
                <a:latin typeface="Calibri"/>
              </a:rPr>
              <a:t>▶</a:t>
            </a:r>
          </a:p>
        </p:txBody>
      </p:sp>
      <p:sp>
        <p:nvSpPr>
          <p:cNvPr id="23" name="Rounded Rectangle 22"/>
          <p:cNvSpPr/>
          <p:nvPr/>
        </p:nvSpPr>
        <p:spPr>
          <a:xfrm>
            <a:off x="3703320" y="4069080"/>
            <a:ext cx="2377440" cy="109728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30-day risk</a:t>
            </a:r>
          </a:p>
          <a:p>
            <a:pPr algn="ctr">
              <a:spcBef>
                <a:spcPts val="200"/>
              </a:spcBef>
            </a:pPr>
            <a:r>
              <a:rPr sz="850">
                <a:solidFill>
                  <a:srgbClr val="CFE4D8"/>
                </a:solidFill>
                <a:latin typeface="Calibri"/>
              </a:rPr>
              <a:t>fire · drought ·
vegetation</a:t>
            </a:r>
          </a:p>
        </p:txBody>
      </p:sp>
      <p:sp>
        <p:nvSpPr>
          <p:cNvPr id="24" name="TextBox 23"/>
          <p:cNvSpPr txBox="1"/>
          <p:nvPr/>
        </p:nvSpPr>
        <p:spPr>
          <a:xfrm>
            <a:off x="6025896" y="4480560"/>
            <a:ext cx="384048" cy="365760"/>
          </a:xfrm>
          <a:prstGeom prst="rect">
            <a:avLst/>
          </a:prstGeom>
          <a:noFill/>
        </p:spPr>
        <p:txBody>
          <a:bodyPr wrap="square" anchor="t">
            <a:spAutoFit/>
          </a:bodyPr>
          <a:lstStyle/>
          <a:p>
            <a:pPr algn="ctr">
              <a:spcBef>
                <a:spcPts val="0"/>
              </a:spcBef>
              <a:spcAft>
                <a:spcPts val="0"/>
              </a:spcAft>
            </a:pPr>
            <a:r>
              <a:rPr sz="1400" b="0" i="0">
                <a:solidFill>
                  <a:srgbClr val="10B981"/>
                </a:solidFill>
                <a:latin typeface="Calibri"/>
              </a:rPr>
              <a:t>▶</a:t>
            </a:r>
          </a:p>
        </p:txBody>
      </p:sp>
      <p:sp>
        <p:nvSpPr>
          <p:cNvPr id="25" name="Rounded Rectangle 24"/>
          <p:cNvSpPr/>
          <p:nvPr/>
        </p:nvSpPr>
        <p:spPr>
          <a:xfrm>
            <a:off x="6355080" y="4069080"/>
            <a:ext cx="2377440" cy="109728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ILP recommender</a:t>
            </a:r>
          </a:p>
          <a:p>
            <a:pPr algn="ctr">
              <a:spcBef>
                <a:spcPts val="200"/>
              </a:spcBef>
            </a:pPr>
            <a:r>
              <a:rPr sz="850">
                <a:solidFill>
                  <a:srgbClr val="CFE4D8"/>
                </a:solidFill>
                <a:latin typeface="Calibri"/>
              </a:rPr>
              <a:t>budget + 4 zones
(PuLP)</a:t>
            </a:r>
          </a:p>
        </p:txBody>
      </p:sp>
      <p:sp>
        <p:nvSpPr>
          <p:cNvPr id="26" name="TextBox 25"/>
          <p:cNvSpPr txBox="1"/>
          <p:nvPr/>
        </p:nvSpPr>
        <p:spPr>
          <a:xfrm>
            <a:off x="8677656" y="4480560"/>
            <a:ext cx="384048" cy="365760"/>
          </a:xfrm>
          <a:prstGeom prst="rect">
            <a:avLst/>
          </a:prstGeom>
          <a:noFill/>
        </p:spPr>
        <p:txBody>
          <a:bodyPr wrap="square" anchor="t">
            <a:spAutoFit/>
          </a:bodyPr>
          <a:lstStyle/>
          <a:p>
            <a:pPr algn="ctr">
              <a:spcBef>
                <a:spcPts val="0"/>
              </a:spcBef>
              <a:spcAft>
                <a:spcPts val="0"/>
              </a:spcAft>
            </a:pPr>
            <a:r>
              <a:rPr sz="1400" b="0" i="0">
                <a:solidFill>
                  <a:srgbClr val="10B981"/>
                </a:solidFill>
                <a:latin typeface="Calibri"/>
              </a:rPr>
              <a:t>▶</a:t>
            </a:r>
          </a:p>
        </p:txBody>
      </p:sp>
      <p:sp>
        <p:nvSpPr>
          <p:cNvPr id="27" name="Rounded Rectangle 26"/>
          <p:cNvSpPr/>
          <p:nvPr/>
        </p:nvSpPr>
        <p:spPr>
          <a:xfrm>
            <a:off x="9006840" y="4069080"/>
            <a:ext cx="2377440" cy="1097280"/>
          </a:xfrm>
          <a:prstGeom prst="roundRect">
            <a:avLst/>
          </a:prstGeom>
          <a:solidFill>
            <a:srgbClr val="0F3D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Web dashboard</a:t>
            </a:r>
          </a:p>
          <a:p>
            <a:pPr algn="ctr">
              <a:spcBef>
                <a:spcPts val="200"/>
              </a:spcBef>
            </a:pPr>
            <a:r>
              <a:rPr sz="850">
                <a:solidFill>
                  <a:srgbClr val="CFE4D8"/>
                </a:solidFill>
                <a:latin typeface="Calibri"/>
              </a:rPr>
              <a:t>React + FastAPI
live daily cron</a:t>
            </a:r>
          </a:p>
        </p:txBody>
      </p:sp>
      <p:sp>
        <p:nvSpPr>
          <p:cNvPr id="28" name="TextBox 27"/>
          <p:cNvSpPr txBox="1"/>
          <p:nvPr/>
        </p:nvSpPr>
        <p:spPr>
          <a:xfrm>
            <a:off x="566928" y="5486400"/>
            <a:ext cx="10972800" cy="457200"/>
          </a:xfrm>
          <a:prstGeom prst="rect">
            <a:avLst/>
          </a:prstGeom>
          <a:noFill/>
        </p:spPr>
        <p:txBody>
          <a:bodyPr wrap="square" anchor="t">
            <a:spAutoFit/>
          </a:bodyPr>
          <a:lstStyle/>
          <a:p>
            <a:pPr algn="l">
              <a:spcBef>
                <a:spcPts val="0"/>
              </a:spcBef>
              <a:spcAft>
                <a:spcPts val="0"/>
              </a:spcAft>
            </a:pPr>
            <a:r>
              <a:rPr sz="1300" b="0" i="1">
                <a:solidFill>
                  <a:srgbClr val="556577"/>
                </a:solidFill>
                <a:latin typeface="Calibri"/>
              </a:rPr>
              <a:t>The model is trained once on 2020-2025 data, then the same model runs live: a daily job pulls current data and refreshes every park's forecast.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731520"/>
          </a:xfrm>
          <a:prstGeom prst="rect">
            <a:avLst/>
          </a:prstGeom>
          <a:noFill/>
        </p:spPr>
        <p:txBody>
          <a:bodyPr wrap="square" anchor="t">
            <a:spAutoFit/>
          </a:bodyPr>
          <a:lstStyle/>
          <a:p>
            <a:pPr algn="l">
              <a:spcBef>
                <a:spcPts val="0"/>
              </a:spcBef>
              <a:spcAft>
                <a:spcPts val="0"/>
              </a:spcAft>
            </a:pPr>
            <a:r>
              <a:rPr sz="2900" b="1" i="0">
                <a:solidFill>
                  <a:srgbClr val="0F3D2E"/>
                </a:solidFill>
                <a:latin typeface="Calibri"/>
              </a:rPr>
              <a:t>Features of the app</a:t>
            </a:r>
          </a:p>
        </p:txBody>
      </p:sp>
      <p:sp>
        <p:nvSpPr>
          <p:cNvPr id="4" name="Rectangle 3"/>
          <p:cNvSpPr/>
          <p:nvPr/>
        </p:nvSpPr>
        <p:spPr>
          <a:xfrm>
            <a:off x="594360" y="1024128"/>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515600" y="6400800"/>
            <a:ext cx="118872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6 / 9</a:t>
            </a:r>
          </a:p>
        </p:txBody>
      </p:sp>
      <p:sp>
        <p:nvSpPr>
          <p:cNvPr id="8" name="Oval 7"/>
          <p:cNvSpPr/>
          <p:nvPr/>
        </p:nvSpPr>
        <p:spPr>
          <a:xfrm>
            <a:off x="658368" y="1600200"/>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08760"/>
            <a:ext cx="5120640" cy="1051560"/>
          </a:xfrm>
          <a:prstGeom prst="rect">
            <a:avLst/>
          </a:prstGeom>
          <a:noFill/>
        </p:spPr>
        <p:txBody>
          <a:bodyPr wrap="square" anchor="t">
            <a:spAutoFit/>
          </a:bodyPr>
          <a:lstStyle/>
          <a:p>
            <a:pPr algn="l">
              <a:spcBef>
                <a:spcPts val="0"/>
              </a:spcBef>
              <a:spcAft>
                <a:spcPts val="200"/>
              </a:spcAft>
            </a:pPr>
            <a:r>
              <a:rPr sz="1600" b="1" i="0">
                <a:solidFill>
                  <a:srgbClr val="0F3D2E"/>
                </a:solidFill>
                <a:latin typeface="Calibri"/>
              </a:rPr>
              <a:t>Role-based access</a:t>
            </a:r>
          </a:p>
          <a:p>
            <a:pPr algn="l">
              <a:lnSpc>
                <a:spcPct val="102000"/>
              </a:lnSpc>
              <a:spcBef>
                <a:spcPts val="0"/>
              </a:spcBef>
              <a:spcAft>
                <a:spcPts val="0"/>
              </a:spcAft>
            </a:pPr>
            <a:r>
              <a:rPr sz="1300" b="0" i="0">
                <a:solidFill>
                  <a:srgbClr val="1F2A37"/>
                </a:solidFill>
                <a:latin typeface="Calibri"/>
              </a:rPr>
              <a:t>Managers see only their park; the national admin sees all six.</a:t>
            </a:r>
          </a:p>
        </p:txBody>
      </p:sp>
      <p:sp>
        <p:nvSpPr>
          <p:cNvPr id="10" name="Oval 9"/>
          <p:cNvSpPr/>
          <p:nvPr/>
        </p:nvSpPr>
        <p:spPr>
          <a:xfrm>
            <a:off x="6355080" y="1600200"/>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508760"/>
            <a:ext cx="5120640" cy="1051560"/>
          </a:xfrm>
          <a:prstGeom prst="rect">
            <a:avLst/>
          </a:prstGeom>
          <a:noFill/>
        </p:spPr>
        <p:txBody>
          <a:bodyPr wrap="square" anchor="t">
            <a:spAutoFit/>
          </a:bodyPr>
          <a:lstStyle/>
          <a:p>
            <a:pPr algn="l">
              <a:spcBef>
                <a:spcPts val="0"/>
              </a:spcBef>
              <a:spcAft>
                <a:spcPts val="200"/>
              </a:spcAft>
            </a:pPr>
            <a:r>
              <a:rPr sz="1600" b="1" i="0">
                <a:solidFill>
                  <a:srgbClr val="0F3D2E"/>
                </a:solidFill>
                <a:latin typeface="Calibri"/>
              </a:rPr>
              <a:t>National risk overview</a:t>
            </a:r>
          </a:p>
          <a:p>
            <a:pPr algn="l">
              <a:lnSpc>
                <a:spcPct val="102000"/>
              </a:lnSpc>
              <a:spcBef>
                <a:spcPts val="0"/>
              </a:spcBef>
              <a:spcAft>
                <a:spcPts val="0"/>
              </a:spcAft>
            </a:pPr>
            <a:r>
              <a:rPr sz="1300" b="0" i="0">
                <a:solidFill>
                  <a:srgbClr val="1F2A37"/>
                </a:solidFill>
                <a:latin typeface="Calibri"/>
              </a:rPr>
              <a:t>Nigeria map shaded by risk, a switchable threat lens, and priority ranking.</a:t>
            </a:r>
          </a:p>
        </p:txBody>
      </p:sp>
      <p:sp>
        <p:nvSpPr>
          <p:cNvPr id="12" name="Oval 11"/>
          <p:cNvSpPr/>
          <p:nvPr/>
        </p:nvSpPr>
        <p:spPr>
          <a:xfrm>
            <a:off x="658368" y="2788920"/>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697480"/>
            <a:ext cx="5120640" cy="1051560"/>
          </a:xfrm>
          <a:prstGeom prst="rect">
            <a:avLst/>
          </a:prstGeom>
          <a:noFill/>
        </p:spPr>
        <p:txBody>
          <a:bodyPr wrap="square" anchor="t">
            <a:spAutoFit/>
          </a:bodyPr>
          <a:lstStyle/>
          <a:p>
            <a:pPr algn="l">
              <a:spcBef>
                <a:spcPts val="0"/>
              </a:spcBef>
              <a:spcAft>
                <a:spcPts val="200"/>
              </a:spcAft>
            </a:pPr>
            <a:r>
              <a:rPr sz="1600" b="1" i="0">
                <a:solidFill>
                  <a:srgbClr val="0F3D2E"/>
                </a:solidFill>
                <a:latin typeface="Calibri"/>
              </a:rPr>
              <a:t>30-day forecasts</a:t>
            </a:r>
          </a:p>
          <a:p>
            <a:pPr algn="l">
              <a:lnSpc>
                <a:spcPct val="102000"/>
              </a:lnSpc>
              <a:spcBef>
                <a:spcPts val="0"/>
              </a:spcBef>
              <a:spcAft>
                <a:spcPts val="0"/>
              </a:spcAft>
            </a:pPr>
            <a:r>
              <a:rPr sz="1300" b="0" i="0">
                <a:solidFill>
                  <a:srgbClr val="1F2A37"/>
                </a:solidFill>
                <a:latin typeface="Calibri"/>
              </a:rPr>
              <a:t>Fire, drought and vegetation risk with 60-day history per park.</a:t>
            </a:r>
          </a:p>
        </p:txBody>
      </p:sp>
      <p:sp>
        <p:nvSpPr>
          <p:cNvPr id="14" name="Oval 13"/>
          <p:cNvSpPr/>
          <p:nvPr/>
        </p:nvSpPr>
        <p:spPr>
          <a:xfrm>
            <a:off x="6355080" y="2788920"/>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2697480"/>
            <a:ext cx="5120640" cy="1051560"/>
          </a:xfrm>
          <a:prstGeom prst="rect">
            <a:avLst/>
          </a:prstGeom>
          <a:noFill/>
        </p:spPr>
        <p:txBody>
          <a:bodyPr wrap="square" anchor="t">
            <a:spAutoFit/>
          </a:bodyPr>
          <a:lstStyle/>
          <a:p>
            <a:pPr algn="l">
              <a:spcBef>
                <a:spcPts val="0"/>
              </a:spcBef>
              <a:spcAft>
                <a:spcPts val="200"/>
              </a:spcAft>
            </a:pPr>
            <a:r>
              <a:rPr sz="1600" b="1" i="0">
                <a:solidFill>
                  <a:srgbClr val="0F3D2E"/>
                </a:solidFill>
                <a:latin typeface="Calibri"/>
              </a:rPr>
              <a:t>Forecast drivers</a:t>
            </a:r>
          </a:p>
          <a:p>
            <a:pPr algn="l">
              <a:lnSpc>
                <a:spcPct val="102000"/>
              </a:lnSpc>
              <a:spcBef>
                <a:spcPts val="0"/>
              </a:spcBef>
              <a:spcAft>
                <a:spcPts val="0"/>
              </a:spcAft>
            </a:pPr>
            <a:r>
              <a:rPr sz="1300" b="0" i="0">
                <a:solidFill>
                  <a:srgbClr val="1F2A37"/>
                </a:solidFill>
                <a:latin typeface="Calibri"/>
              </a:rPr>
              <a:t>The environmental signals behind each threat, in plain language.</a:t>
            </a:r>
          </a:p>
        </p:txBody>
      </p:sp>
      <p:sp>
        <p:nvSpPr>
          <p:cNvPr id="16" name="Oval 15"/>
          <p:cNvSpPr/>
          <p:nvPr/>
        </p:nvSpPr>
        <p:spPr>
          <a:xfrm>
            <a:off x="658368" y="3977640"/>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886200"/>
            <a:ext cx="5120640" cy="1051560"/>
          </a:xfrm>
          <a:prstGeom prst="rect">
            <a:avLst/>
          </a:prstGeom>
          <a:noFill/>
        </p:spPr>
        <p:txBody>
          <a:bodyPr wrap="square" anchor="t">
            <a:spAutoFit/>
          </a:bodyPr>
          <a:lstStyle/>
          <a:p>
            <a:pPr algn="l">
              <a:spcBef>
                <a:spcPts val="0"/>
              </a:spcBef>
              <a:spcAft>
                <a:spcPts val="200"/>
              </a:spcAft>
            </a:pPr>
            <a:r>
              <a:rPr sz="1600" b="1" i="0">
                <a:solidFill>
                  <a:srgbClr val="0F3D2E"/>
                </a:solidFill>
                <a:latin typeface="Calibri"/>
              </a:rPr>
              <a:t>Budget recommender</a:t>
            </a:r>
          </a:p>
          <a:p>
            <a:pPr algn="l">
              <a:lnSpc>
                <a:spcPct val="102000"/>
              </a:lnSpc>
              <a:spcBef>
                <a:spcPts val="0"/>
              </a:spcBef>
              <a:spcAft>
                <a:spcPts val="0"/>
              </a:spcAft>
            </a:pPr>
            <a:r>
              <a:rPr sz="1300" b="0" i="0">
                <a:solidFill>
                  <a:srgbClr val="1F2A37"/>
                </a:solidFill>
                <a:latin typeface="Calibri"/>
              </a:rPr>
              <a:t>A live budget slider returns a zone-level deployment plan in milliseconds.</a:t>
            </a:r>
          </a:p>
        </p:txBody>
      </p:sp>
      <p:sp>
        <p:nvSpPr>
          <p:cNvPr id="18" name="Oval 17"/>
          <p:cNvSpPr/>
          <p:nvPr/>
        </p:nvSpPr>
        <p:spPr>
          <a:xfrm>
            <a:off x="6355080" y="3977640"/>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3886200"/>
            <a:ext cx="5120640" cy="1051560"/>
          </a:xfrm>
          <a:prstGeom prst="rect">
            <a:avLst/>
          </a:prstGeom>
          <a:noFill/>
        </p:spPr>
        <p:txBody>
          <a:bodyPr wrap="square" anchor="t">
            <a:spAutoFit/>
          </a:bodyPr>
          <a:lstStyle/>
          <a:p>
            <a:pPr algn="l">
              <a:spcBef>
                <a:spcPts val="0"/>
              </a:spcBef>
              <a:spcAft>
                <a:spcPts val="200"/>
              </a:spcAft>
            </a:pPr>
            <a:r>
              <a:rPr sz="1600" b="1" i="0">
                <a:solidFill>
                  <a:srgbClr val="0F3D2E"/>
                </a:solidFill>
                <a:latin typeface="Calibri"/>
              </a:rPr>
              <a:t>Zone deployment map</a:t>
            </a:r>
          </a:p>
          <a:p>
            <a:pPr algn="l">
              <a:lnSpc>
                <a:spcPct val="102000"/>
              </a:lnSpc>
              <a:spcBef>
                <a:spcPts val="0"/>
              </a:spcBef>
              <a:spcAft>
                <a:spcPts val="0"/>
              </a:spcAft>
            </a:pPr>
            <a:r>
              <a:rPr sz="1300" b="0" i="0">
                <a:solidFill>
                  <a:srgbClr val="1F2A37"/>
                </a:solidFill>
                <a:latin typeface="Calibri"/>
              </a:rPr>
              <a:t>Shows how many units of each intervention go to each of four zones.</a:t>
            </a:r>
          </a:p>
        </p:txBody>
      </p:sp>
      <p:sp>
        <p:nvSpPr>
          <p:cNvPr id="20" name="Oval 19"/>
          <p:cNvSpPr/>
          <p:nvPr/>
        </p:nvSpPr>
        <p:spPr>
          <a:xfrm>
            <a:off x="658368" y="5166360"/>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5074920"/>
            <a:ext cx="5120640" cy="1051560"/>
          </a:xfrm>
          <a:prstGeom prst="rect">
            <a:avLst/>
          </a:prstGeom>
          <a:noFill/>
        </p:spPr>
        <p:txBody>
          <a:bodyPr wrap="square" anchor="t">
            <a:spAutoFit/>
          </a:bodyPr>
          <a:lstStyle/>
          <a:p>
            <a:pPr algn="l">
              <a:spcBef>
                <a:spcPts val="0"/>
              </a:spcBef>
              <a:spcAft>
                <a:spcPts val="200"/>
              </a:spcAft>
            </a:pPr>
            <a:r>
              <a:rPr sz="1600" b="1" i="0">
                <a:solidFill>
                  <a:srgbClr val="0F3D2E"/>
                </a:solidFill>
                <a:latin typeface="Calibri"/>
              </a:rPr>
              <a:t>Intervention catalog</a:t>
            </a:r>
          </a:p>
          <a:p>
            <a:pPr algn="l">
              <a:lnSpc>
                <a:spcPct val="102000"/>
              </a:lnSpc>
              <a:spcBef>
                <a:spcPts val="0"/>
              </a:spcBef>
              <a:spcAft>
                <a:spcPts val="0"/>
              </a:spcAft>
            </a:pPr>
            <a:r>
              <a:rPr sz="1300" b="0" i="0">
                <a:solidFill>
                  <a:srgbClr val="1F2A37"/>
                </a:solidFill>
                <a:latin typeface="Calibri"/>
              </a:rPr>
              <a:t>Each action with its capacity and per-threat effect.</a:t>
            </a:r>
          </a:p>
        </p:txBody>
      </p:sp>
      <p:sp>
        <p:nvSpPr>
          <p:cNvPr id="22" name="Oval 21"/>
          <p:cNvSpPr/>
          <p:nvPr/>
        </p:nvSpPr>
        <p:spPr>
          <a:xfrm>
            <a:off x="6355080" y="5166360"/>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5074920"/>
            <a:ext cx="5120640" cy="1051560"/>
          </a:xfrm>
          <a:prstGeom prst="rect">
            <a:avLst/>
          </a:prstGeom>
          <a:noFill/>
        </p:spPr>
        <p:txBody>
          <a:bodyPr wrap="square" anchor="t">
            <a:spAutoFit/>
          </a:bodyPr>
          <a:lstStyle/>
          <a:p>
            <a:pPr algn="l">
              <a:spcBef>
                <a:spcPts val="0"/>
              </a:spcBef>
              <a:spcAft>
                <a:spcPts val="200"/>
              </a:spcAft>
            </a:pPr>
            <a:r>
              <a:rPr sz="1600" b="1" i="0">
                <a:solidFill>
                  <a:srgbClr val="0F3D2E"/>
                </a:solidFill>
                <a:latin typeface="Calibri"/>
              </a:rPr>
              <a:t>Live and deployed</a:t>
            </a:r>
          </a:p>
          <a:p>
            <a:pPr algn="l">
              <a:lnSpc>
                <a:spcPct val="102000"/>
              </a:lnSpc>
              <a:spcBef>
                <a:spcPts val="0"/>
              </a:spcBef>
              <a:spcAft>
                <a:spcPts val="0"/>
              </a:spcAft>
            </a:pPr>
            <a:r>
              <a:rPr sz="1300" b="0" i="0">
                <a:solidFill>
                  <a:srgbClr val="1F2A37"/>
                </a:solidFill>
                <a:latin typeface="Calibri"/>
              </a:rPr>
              <a:t>Vercel, Fly.io and Neon, refreshed automatically every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731520"/>
          </a:xfrm>
          <a:prstGeom prst="rect">
            <a:avLst/>
          </a:prstGeom>
          <a:noFill/>
        </p:spPr>
        <p:txBody>
          <a:bodyPr wrap="square" anchor="t">
            <a:spAutoFit/>
          </a:bodyPr>
          <a:lstStyle/>
          <a:p>
            <a:pPr algn="l">
              <a:spcBef>
                <a:spcPts val="0"/>
              </a:spcBef>
              <a:spcAft>
                <a:spcPts val="0"/>
              </a:spcAft>
            </a:pPr>
            <a:r>
              <a:rPr sz="2900" b="1" i="0">
                <a:solidFill>
                  <a:srgbClr val="0F3D2E"/>
                </a:solidFill>
                <a:latin typeface="Calibri"/>
              </a:rPr>
              <a:t>Working prototype</a:t>
            </a:r>
          </a:p>
        </p:txBody>
      </p:sp>
      <p:sp>
        <p:nvSpPr>
          <p:cNvPr id="4" name="Rectangle 3"/>
          <p:cNvSpPr/>
          <p:nvPr/>
        </p:nvSpPr>
        <p:spPr>
          <a:xfrm>
            <a:off x="594360" y="1024128"/>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515600" y="6400800"/>
            <a:ext cx="118872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7 / 9</a:t>
            </a:r>
          </a:p>
        </p:txBody>
      </p:sp>
      <p:sp>
        <p:nvSpPr>
          <p:cNvPr id="8" name="Oval 7"/>
          <p:cNvSpPr/>
          <p:nvPr/>
        </p:nvSpPr>
        <p:spPr>
          <a:xfrm>
            <a:off x="640080" y="160934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54480"/>
            <a:ext cx="10515600" cy="1097280"/>
          </a:xfrm>
          <a:prstGeom prst="rect">
            <a:avLst/>
          </a:prstGeom>
          <a:noFill/>
        </p:spPr>
        <p:txBody>
          <a:bodyPr wrap="square" anchor="t">
            <a:spAutoFit/>
          </a:bodyPr>
          <a:lstStyle/>
          <a:p>
            <a:pPr algn="l">
              <a:spcBef>
                <a:spcPts val="0"/>
              </a:spcBef>
              <a:spcAft>
                <a:spcPts val="200"/>
              </a:spcAft>
            </a:pPr>
            <a:r>
              <a:rPr sz="1900" b="1" i="0">
                <a:solidFill>
                  <a:srgbClr val="0F3D2E"/>
                </a:solidFill>
                <a:latin typeface="Calibri"/>
              </a:rPr>
              <a:t>Deployed end to end.</a:t>
            </a:r>
          </a:p>
          <a:p>
            <a:pPr algn="l">
              <a:lnSpc>
                <a:spcPct val="102000"/>
              </a:lnSpc>
              <a:spcBef>
                <a:spcPts val="0"/>
              </a:spcBef>
              <a:spcAft>
                <a:spcPts val="0"/>
              </a:spcAft>
            </a:pPr>
            <a:r>
              <a:rPr sz="1550" b="0" i="0">
                <a:solidFill>
                  <a:srgbClr val="1F2A37"/>
                </a:solidFill>
                <a:latin typeface="Calibri"/>
              </a:rPr>
              <a:t>React on Vercel, FastAPI on Fly.io, a Neon Postgres database, and a daily GitHub Actions job that refreshes forecasts automatically.</a:t>
            </a:r>
          </a:p>
        </p:txBody>
      </p:sp>
      <p:sp>
        <p:nvSpPr>
          <p:cNvPr id="10" name="Oval 9"/>
          <p:cNvSpPr/>
          <p:nvPr/>
        </p:nvSpPr>
        <p:spPr>
          <a:xfrm>
            <a:off x="640080" y="284378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788920"/>
            <a:ext cx="10515600" cy="1097280"/>
          </a:xfrm>
          <a:prstGeom prst="rect">
            <a:avLst/>
          </a:prstGeom>
          <a:noFill/>
        </p:spPr>
        <p:txBody>
          <a:bodyPr wrap="square" anchor="t">
            <a:spAutoFit/>
          </a:bodyPr>
          <a:lstStyle/>
          <a:p>
            <a:pPr algn="l">
              <a:spcBef>
                <a:spcPts val="0"/>
              </a:spcBef>
              <a:spcAft>
                <a:spcPts val="200"/>
              </a:spcAft>
            </a:pPr>
            <a:r>
              <a:rPr sz="1900" b="1" i="0">
                <a:solidFill>
                  <a:srgbClr val="0F3D2E"/>
                </a:solidFill>
                <a:latin typeface="Calibri"/>
              </a:rPr>
              <a:t>An operational dashboard.</a:t>
            </a:r>
          </a:p>
          <a:p>
            <a:pPr algn="l">
              <a:lnSpc>
                <a:spcPct val="102000"/>
              </a:lnSpc>
              <a:spcBef>
                <a:spcPts val="0"/>
              </a:spcBef>
              <a:spcAft>
                <a:spcPts val="0"/>
              </a:spcAft>
            </a:pPr>
            <a:r>
              <a:rPr sz="1550" b="0" i="0">
                <a:solidFill>
                  <a:srgbClr val="1F2A37"/>
                </a:solidFill>
                <a:latin typeface="Calibri"/>
              </a:rPr>
              <a:t>A national risk map, per-park 30-day forecasts with drivers, and a planner that returns a zone-level plan for a chosen budget.</a:t>
            </a:r>
          </a:p>
        </p:txBody>
      </p:sp>
      <p:sp>
        <p:nvSpPr>
          <p:cNvPr id="12" name="Oval 11"/>
          <p:cNvSpPr/>
          <p:nvPr/>
        </p:nvSpPr>
        <p:spPr>
          <a:xfrm>
            <a:off x="640080" y="407822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023360"/>
            <a:ext cx="10515600" cy="1097280"/>
          </a:xfrm>
          <a:prstGeom prst="rect">
            <a:avLst/>
          </a:prstGeom>
          <a:noFill/>
        </p:spPr>
        <p:txBody>
          <a:bodyPr wrap="square" anchor="t">
            <a:spAutoFit/>
          </a:bodyPr>
          <a:lstStyle/>
          <a:p>
            <a:pPr algn="l">
              <a:spcBef>
                <a:spcPts val="0"/>
              </a:spcBef>
              <a:spcAft>
                <a:spcPts val="200"/>
              </a:spcAft>
            </a:pPr>
            <a:r>
              <a:rPr sz="1900" b="1" i="0">
                <a:solidFill>
                  <a:srgbClr val="0F3D2E"/>
                </a:solidFill>
                <a:latin typeface="Calibri"/>
              </a:rPr>
              <a:t>Engineered and verified.</a:t>
            </a:r>
          </a:p>
          <a:p>
            <a:pPr algn="l">
              <a:lnSpc>
                <a:spcPct val="102000"/>
              </a:lnSpc>
              <a:spcBef>
                <a:spcPts val="0"/>
              </a:spcBef>
              <a:spcAft>
                <a:spcPts val="0"/>
              </a:spcAft>
            </a:pPr>
            <a:r>
              <a:rPr sz="1550" b="0" i="0">
                <a:solidFill>
                  <a:srgbClr val="1F2A37"/>
                </a:solidFill>
                <a:latin typeface="Calibri"/>
              </a:rPr>
              <a:t>Seventeen automated tests pass, alongside integration and end-to-end checks against the live system.</a:t>
            </a:r>
          </a:p>
        </p:txBody>
      </p:sp>
      <p:sp>
        <p:nvSpPr>
          <p:cNvPr id="14" name="Rounded Rectangle 13"/>
          <p:cNvSpPr/>
          <p:nvPr/>
        </p:nvSpPr>
        <p:spPr>
          <a:xfrm>
            <a:off x="658368" y="5440680"/>
            <a:ext cx="740664" cy="384048"/>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486400"/>
            <a:ext cx="740664" cy="310896"/>
          </a:xfrm>
          <a:prstGeom prst="rect">
            <a:avLst/>
          </a:prstGeom>
          <a:noFill/>
        </p:spPr>
        <p:txBody>
          <a:bodyPr wrap="square" anchor="t">
            <a:spAutoFit/>
          </a:bodyPr>
          <a:lstStyle/>
          <a:p>
            <a:pPr algn="ctr">
              <a:spcBef>
                <a:spcPts val="0"/>
              </a:spcBef>
              <a:spcAft>
                <a:spcPts val="0"/>
              </a:spcAft>
            </a:pPr>
            <a:r>
              <a:rPr sz="1250" b="1" i="0">
                <a:solidFill>
                  <a:srgbClr val="0F3D2E"/>
                </a:solidFill>
                <a:latin typeface="Calibri"/>
              </a:rPr>
              <a:t>Vercel</a:t>
            </a:r>
          </a:p>
        </p:txBody>
      </p:sp>
      <p:sp>
        <p:nvSpPr>
          <p:cNvPr id="16" name="Rounded Rectangle 15"/>
          <p:cNvSpPr/>
          <p:nvPr/>
        </p:nvSpPr>
        <p:spPr>
          <a:xfrm>
            <a:off x="1563624" y="5440680"/>
            <a:ext cx="740664" cy="384048"/>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63624" y="5486400"/>
            <a:ext cx="740664" cy="310896"/>
          </a:xfrm>
          <a:prstGeom prst="rect">
            <a:avLst/>
          </a:prstGeom>
          <a:noFill/>
        </p:spPr>
        <p:txBody>
          <a:bodyPr wrap="square" anchor="t">
            <a:spAutoFit/>
          </a:bodyPr>
          <a:lstStyle/>
          <a:p>
            <a:pPr algn="ctr">
              <a:spcBef>
                <a:spcPts val="0"/>
              </a:spcBef>
              <a:spcAft>
                <a:spcPts val="0"/>
              </a:spcAft>
            </a:pPr>
            <a:r>
              <a:rPr sz="1250" b="1" i="0">
                <a:solidFill>
                  <a:srgbClr val="0F3D2E"/>
                </a:solidFill>
                <a:latin typeface="Calibri"/>
              </a:rPr>
              <a:t>Fly.io</a:t>
            </a:r>
          </a:p>
        </p:txBody>
      </p:sp>
      <p:sp>
        <p:nvSpPr>
          <p:cNvPr id="18" name="Rounded Rectangle 17"/>
          <p:cNvSpPr/>
          <p:nvPr/>
        </p:nvSpPr>
        <p:spPr>
          <a:xfrm>
            <a:off x="2468880" y="5440680"/>
            <a:ext cx="548640" cy="384048"/>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8880" y="5486400"/>
            <a:ext cx="548640" cy="310896"/>
          </a:xfrm>
          <a:prstGeom prst="rect">
            <a:avLst/>
          </a:prstGeom>
          <a:noFill/>
        </p:spPr>
        <p:txBody>
          <a:bodyPr wrap="square" anchor="t">
            <a:spAutoFit/>
          </a:bodyPr>
          <a:lstStyle/>
          <a:p>
            <a:pPr algn="ctr">
              <a:spcBef>
                <a:spcPts val="0"/>
              </a:spcBef>
              <a:spcAft>
                <a:spcPts val="0"/>
              </a:spcAft>
            </a:pPr>
            <a:r>
              <a:rPr sz="1250" b="1" i="0">
                <a:solidFill>
                  <a:srgbClr val="0F3D2E"/>
                </a:solidFill>
                <a:latin typeface="Calibri"/>
              </a:rPr>
              <a:t>Neon</a:t>
            </a:r>
          </a:p>
        </p:txBody>
      </p:sp>
      <p:sp>
        <p:nvSpPr>
          <p:cNvPr id="20" name="Rounded Rectangle 19"/>
          <p:cNvSpPr/>
          <p:nvPr/>
        </p:nvSpPr>
        <p:spPr>
          <a:xfrm>
            <a:off x="3182112" y="5440680"/>
            <a:ext cx="1508760" cy="384048"/>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82112" y="5486400"/>
            <a:ext cx="1508760" cy="310896"/>
          </a:xfrm>
          <a:prstGeom prst="rect">
            <a:avLst/>
          </a:prstGeom>
          <a:noFill/>
        </p:spPr>
        <p:txBody>
          <a:bodyPr wrap="square" anchor="t">
            <a:spAutoFit/>
          </a:bodyPr>
          <a:lstStyle/>
          <a:p>
            <a:pPr algn="ctr">
              <a:spcBef>
                <a:spcPts val="0"/>
              </a:spcBef>
              <a:spcAft>
                <a:spcPts val="0"/>
              </a:spcAft>
            </a:pPr>
            <a:r>
              <a:rPr sz="1250" b="1" i="0">
                <a:solidFill>
                  <a:srgbClr val="0F3D2E"/>
                </a:solidFill>
                <a:latin typeface="Calibri"/>
              </a:rPr>
              <a:t>GitHub Actions</a:t>
            </a:r>
          </a:p>
        </p:txBody>
      </p:sp>
      <p:sp>
        <p:nvSpPr>
          <p:cNvPr id="22" name="TextBox 21"/>
          <p:cNvSpPr txBox="1"/>
          <p:nvPr/>
        </p:nvSpPr>
        <p:spPr>
          <a:xfrm>
            <a:off x="6400800" y="5486400"/>
            <a:ext cx="5120640" cy="365760"/>
          </a:xfrm>
          <a:prstGeom prst="rect">
            <a:avLst/>
          </a:prstGeom>
          <a:noFill/>
        </p:spPr>
        <p:txBody>
          <a:bodyPr wrap="square" anchor="t">
            <a:spAutoFit/>
          </a:bodyPr>
          <a:lstStyle/>
          <a:p>
            <a:pPr algn="r">
              <a:spcBef>
                <a:spcPts val="0"/>
              </a:spcBef>
              <a:spcAft>
                <a:spcPts val="0"/>
              </a:spcAft>
            </a:pPr>
            <a:r>
              <a:rPr sz="1400" b="1" i="0">
                <a:solidFill>
                  <a:srgbClr val="10B981"/>
                </a:solidFill>
                <a:latin typeface="Calibri"/>
              </a:rPr>
              <a:t>Live:  conserve-ai.vercel.app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731520"/>
          </a:xfrm>
          <a:prstGeom prst="rect">
            <a:avLst/>
          </a:prstGeom>
          <a:noFill/>
        </p:spPr>
        <p:txBody>
          <a:bodyPr wrap="square" anchor="t">
            <a:spAutoFit/>
          </a:bodyPr>
          <a:lstStyle/>
          <a:p>
            <a:pPr algn="l">
              <a:spcBef>
                <a:spcPts val="0"/>
              </a:spcBef>
              <a:spcAft>
                <a:spcPts val="0"/>
              </a:spcAft>
            </a:pPr>
            <a:r>
              <a:rPr sz="2900" b="1" i="0">
                <a:solidFill>
                  <a:srgbClr val="0F3D2E"/>
                </a:solidFill>
                <a:latin typeface="Calibri"/>
              </a:rPr>
              <a:t>Results</a:t>
            </a:r>
          </a:p>
        </p:txBody>
      </p:sp>
      <p:sp>
        <p:nvSpPr>
          <p:cNvPr id="4" name="Rectangle 3"/>
          <p:cNvSpPr/>
          <p:nvPr/>
        </p:nvSpPr>
        <p:spPr>
          <a:xfrm>
            <a:off x="594360" y="1024128"/>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515600" y="6400800"/>
            <a:ext cx="118872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8 / 9</a:t>
            </a:r>
          </a:p>
        </p:txBody>
      </p:sp>
      <p:sp>
        <p:nvSpPr>
          <p:cNvPr id="8" name="TextBox 7"/>
          <p:cNvSpPr txBox="1"/>
          <p:nvPr/>
        </p:nvSpPr>
        <p:spPr>
          <a:xfrm>
            <a:off x="658368" y="1280160"/>
            <a:ext cx="10881360" cy="411480"/>
          </a:xfrm>
          <a:prstGeom prst="rect">
            <a:avLst/>
          </a:prstGeom>
          <a:noFill/>
        </p:spPr>
        <p:txBody>
          <a:bodyPr wrap="square" anchor="t">
            <a:spAutoFit/>
          </a:bodyPr>
          <a:lstStyle/>
          <a:p>
            <a:pPr algn="l">
              <a:spcBef>
                <a:spcPts val="0"/>
              </a:spcBef>
              <a:spcAft>
                <a:spcPts val="0"/>
              </a:spcAft>
            </a:pPr>
            <a:r>
              <a:rPr sz="1550" b="0" i="0">
                <a:solidFill>
                  <a:srgbClr val="1F2A37"/>
                </a:solidFill>
                <a:latin typeface="Calibri"/>
              </a:rPr>
              <a:t>Production model (self-training Random Forest) on a held-out 2024-2025 test set, n = 3,812 park-days:</a:t>
            </a:r>
          </a:p>
        </p:txBody>
      </p:sp>
      <p:sp>
        <p:nvSpPr>
          <p:cNvPr id="9" name="Rounded Rectangle 8"/>
          <p:cNvSpPr/>
          <p:nvPr/>
        </p:nvSpPr>
        <p:spPr>
          <a:xfrm>
            <a:off x="658368" y="1783080"/>
            <a:ext cx="3520440" cy="1371600"/>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783080"/>
            <a:ext cx="3520440" cy="76200"/>
          </a:xfrm>
          <a:prstGeom prst="rect">
            <a:avLst/>
          </a:prstGeom>
          <a:solidFill>
            <a:srgbClr val="E64A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947672"/>
            <a:ext cx="3520440" cy="365760"/>
          </a:xfrm>
          <a:prstGeom prst="rect">
            <a:avLst/>
          </a:prstGeom>
          <a:noFill/>
        </p:spPr>
        <p:txBody>
          <a:bodyPr wrap="square" anchor="t">
            <a:spAutoFit/>
          </a:bodyPr>
          <a:lstStyle/>
          <a:p>
            <a:pPr algn="ctr">
              <a:spcBef>
                <a:spcPts val="0"/>
              </a:spcBef>
              <a:spcAft>
                <a:spcPts val="0"/>
              </a:spcAft>
            </a:pPr>
            <a:r>
              <a:rPr sz="1500" b="1" i="0">
                <a:solidFill>
                  <a:srgbClr val="1F2A37"/>
                </a:solidFill>
                <a:latin typeface="Calibri"/>
              </a:rPr>
              <a:t>Fire risk</a:t>
            </a:r>
          </a:p>
        </p:txBody>
      </p:sp>
      <p:sp>
        <p:nvSpPr>
          <p:cNvPr id="12" name="TextBox 11"/>
          <p:cNvSpPr txBox="1"/>
          <p:nvPr/>
        </p:nvSpPr>
        <p:spPr>
          <a:xfrm>
            <a:off x="658368" y="2286000"/>
            <a:ext cx="3520440" cy="731520"/>
          </a:xfrm>
          <a:prstGeom prst="rect">
            <a:avLst/>
          </a:prstGeom>
          <a:noFill/>
        </p:spPr>
        <p:txBody>
          <a:bodyPr wrap="square" anchor="t">
            <a:spAutoFit/>
          </a:bodyPr>
          <a:lstStyle/>
          <a:p>
            <a:pPr algn="ctr">
              <a:spcBef>
                <a:spcPts val="0"/>
              </a:spcBef>
              <a:spcAft>
                <a:spcPts val="0"/>
              </a:spcAft>
            </a:pPr>
            <a:r>
              <a:rPr sz="4400" b="1" i="0">
                <a:solidFill>
                  <a:srgbClr val="E64A19"/>
                </a:solidFill>
                <a:latin typeface="Calibri"/>
              </a:rPr>
              <a:t>0.94</a:t>
            </a:r>
          </a:p>
        </p:txBody>
      </p:sp>
      <p:sp>
        <p:nvSpPr>
          <p:cNvPr id="13" name="TextBox 12"/>
          <p:cNvSpPr txBox="1"/>
          <p:nvPr/>
        </p:nvSpPr>
        <p:spPr>
          <a:xfrm>
            <a:off x="658368" y="2907792"/>
            <a:ext cx="3520440" cy="274320"/>
          </a:xfrm>
          <a:prstGeom prst="rect">
            <a:avLst/>
          </a:prstGeom>
          <a:noFill/>
        </p:spPr>
        <p:txBody>
          <a:bodyPr wrap="square" anchor="t">
            <a:spAutoFit/>
          </a:bodyPr>
          <a:lstStyle/>
          <a:p>
            <a:pPr algn="ctr">
              <a:spcBef>
                <a:spcPts val="0"/>
              </a:spcBef>
              <a:spcAft>
                <a:spcPts val="0"/>
              </a:spcAft>
            </a:pPr>
            <a:r>
              <a:rPr sz="1200" b="0" i="0">
                <a:solidFill>
                  <a:srgbClr val="556577"/>
                </a:solidFill>
                <a:latin typeface="Calibri"/>
              </a:rPr>
              <a:t>F2 score</a:t>
            </a:r>
          </a:p>
        </p:txBody>
      </p:sp>
      <p:sp>
        <p:nvSpPr>
          <p:cNvPr id="14" name="Rounded Rectangle 13"/>
          <p:cNvSpPr/>
          <p:nvPr/>
        </p:nvSpPr>
        <p:spPr>
          <a:xfrm>
            <a:off x="4425696" y="1783080"/>
            <a:ext cx="3520440" cy="1371600"/>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25696" y="1783080"/>
            <a:ext cx="3520440" cy="76200"/>
          </a:xfrm>
          <a:prstGeom prst="rect">
            <a:avLst/>
          </a:prstGeom>
          <a:solidFill>
            <a:srgbClr val="197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1947672"/>
            <a:ext cx="3520440" cy="365760"/>
          </a:xfrm>
          <a:prstGeom prst="rect">
            <a:avLst/>
          </a:prstGeom>
          <a:noFill/>
        </p:spPr>
        <p:txBody>
          <a:bodyPr wrap="square" anchor="t">
            <a:spAutoFit/>
          </a:bodyPr>
          <a:lstStyle/>
          <a:p>
            <a:pPr algn="ctr">
              <a:spcBef>
                <a:spcPts val="0"/>
              </a:spcBef>
              <a:spcAft>
                <a:spcPts val="0"/>
              </a:spcAft>
            </a:pPr>
            <a:r>
              <a:rPr sz="1500" b="1" i="0">
                <a:solidFill>
                  <a:srgbClr val="1F2A37"/>
                </a:solidFill>
                <a:latin typeface="Calibri"/>
              </a:rPr>
              <a:t>Drought risk</a:t>
            </a:r>
          </a:p>
        </p:txBody>
      </p:sp>
      <p:sp>
        <p:nvSpPr>
          <p:cNvPr id="17" name="TextBox 16"/>
          <p:cNvSpPr txBox="1"/>
          <p:nvPr/>
        </p:nvSpPr>
        <p:spPr>
          <a:xfrm>
            <a:off x="4425696" y="2286000"/>
            <a:ext cx="3520440" cy="731520"/>
          </a:xfrm>
          <a:prstGeom prst="rect">
            <a:avLst/>
          </a:prstGeom>
          <a:noFill/>
        </p:spPr>
        <p:txBody>
          <a:bodyPr wrap="square" anchor="t">
            <a:spAutoFit/>
          </a:bodyPr>
          <a:lstStyle/>
          <a:p>
            <a:pPr algn="ctr">
              <a:spcBef>
                <a:spcPts val="0"/>
              </a:spcBef>
              <a:spcAft>
                <a:spcPts val="0"/>
              </a:spcAft>
            </a:pPr>
            <a:r>
              <a:rPr sz="4400" b="1" i="0">
                <a:solidFill>
                  <a:srgbClr val="1976D2"/>
                </a:solidFill>
                <a:latin typeface="Calibri"/>
              </a:rPr>
              <a:t>0.89</a:t>
            </a:r>
          </a:p>
        </p:txBody>
      </p:sp>
      <p:sp>
        <p:nvSpPr>
          <p:cNvPr id="18" name="TextBox 17"/>
          <p:cNvSpPr txBox="1"/>
          <p:nvPr/>
        </p:nvSpPr>
        <p:spPr>
          <a:xfrm>
            <a:off x="4425696" y="2907792"/>
            <a:ext cx="3520440" cy="274320"/>
          </a:xfrm>
          <a:prstGeom prst="rect">
            <a:avLst/>
          </a:prstGeom>
          <a:noFill/>
        </p:spPr>
        <p:txBody>
          <a:bodyPr wrap="square" anchor="t">
            <a:spAutoFit/>
          </a:bodyPr>
          <a:lstStyle/>
          <a:p>
            <a:pPr algn="ctr">
              <a:spcBef>
                <a:spcPts val="0"/>
              </a:spcBef>
              <a:spcAft>
                <a:spcPts val="0"/>
              </a:spcAft>
            </a:pPr>
            <a:r>
              <a:rPr sz="1200" b="0" i="0">
                <a:solidFill>
                  <a:srgbClr val="556577"/>
                </a:solidFill>
                <a:latin typeface="Calibri"/>
              </a:rPr>
              <a:t>F2 score</a:t>
            </a:r>
          </a:p>
        </p:txBody>
      </p:sp>
      <p:sp>
        <p:nvSpPr>
          <p:cNvPr id="19" name="Rounded Rectangle 18"/>
          <p:cNvSpPr/>
          <p:nvPr/>
        </p:nvSpPr>
        <p:spPr>
          <a:xfrm>
            <a:off x="8193024" y="1783080"/>
            <a:ext cx="3520440" cy="1371600"/>
          </a:xfrm>
          <a:prstGeom prst="round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3024" y="1783080"/>
            <a:ext cx="3520440" cy="76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1947672"/>
            <a:ext cx="3520440" cy="365760"/>
          </a:xfrm>
          <a:prstGeom prst="rect">
            <a:avLst/>
          </a:prstGeom>
          <a:noFill/>
        </p:spPr>
        <p:txBody>
          <a:bodyPr wrap="square" anchor="t">
            <a:spAutoFit/>
          </a:bodyPr>
          <a:lstStyle/>
          <a:p>
            <a:pPr algn="ctr">
              <a:spcBef>
                <a:spcPts val="0"/>
              </a:spcBef>
              <a:spcAft>
                <a:spcPts val="0"/>
              </a:spcAft>
            </a:pPr>
            <a:r>
              <a:rPr sz="1500" b="1" i="0">
                <a:solidFill>
                  <a:srgbClr val="1F2A37"/>
                </a:solidFill>
                <a:latin typeface="Calibri"/>
              </a:rPr>
              <a:t>Vegetation risk</a:t>
            </a:r>
          </a:p>
        </p:txBody>
      </p:sp>
      <p:sp>
        <p:nvSpPr>
          <p:cNvPr id="22" name="TextBox 21"/>
          <p:cNvSpPr txBox="1"/>
          <p:nvPr/>
        </p:nvSpPr>
        <p:spPr>
          <a:xfrm>
            <a:off x="8193024" y="2286000"/>
            <a:ext cx="3520440" cy="731520"/>
          </a:xfrm>
          <a:prstGeom prst="rect">
            <a:avLst/>
          </a:prstGeom>
          <a:noFill/>
        </p:spPr>
        <p:txBody>
          <a:bodyPr wrap="square" anchor="t">
            <a:spAutoFit/>
          </a:bodyPr>
          <a:lstStyle/>
          <a:p>
            <a:pPr algn="ctr">
              <a:spcBef>
                <a:spcPts val="0"/>
              </a:spcBef>
              <a:spcAft>
                <a:spcPts val="0"/>
              </a:spcAft>
            </a:pPr>
            <a:r>
              <a:rPr sz="4400" b="1" i="0">
                <a:solidFill>
                  <a:srgbClr val="2E7D32"/>
                </a:solidFill>
                <a:latin typeface="Calibri"/>
              </a:rPr>
              <a:t>0.75</a:t>
            </a:r>
          </a:p>
        </p:txBody>
      </p:sp>
      <p:sp>
        <p:nvSpPr>
          <p:cNvPr id="23" name="TextBox 22"/>
          <p:cNvSpPr txBox="1"/>
          <p:nvPr/>
        </p:nvSpPr>
        <p:spPr>
          <a:xfrm>
            <a:off x="8193024" y="2907792"/>
            <a:ext cx="3520440" cy="274320"/>
          </a:xfrm>
          <a:prstGeom prst="rect">
            <a:avLst/>
          </a:prstGeom>
          <a:noFill/>
        </p:spPr>
        <p:txBody>
          <a:bodyPr wrap="square" anchor="t">
            <a:spAutoFit/>
          </a:bodyPr>
          <a:lstStyle/>
          <a:p>
            <a:pPr algn="ctr">
              <a:spcBef>
                <a:spcPts val="0"/>
              </a:spcBef>
              <a:spcAft>
                <a:spcPts val="0"/>
              </a:spcAft>
            </a:pPr>
            <a:r>
              <a:rPr sz="1200" b="0" i="0">
                <a:solidFill>
                  <a:srgbClr val="556577"/>
                </a:solidFill>
                <a:latin typeface="Calibri"/>
              </a:rPr>
              <a:t>F2 score</a:t>
            </a:r>
          </a:p>
        </p:txBody>
      </p:sp>
      <p:graphicFrame>
        <p:nvGraphicFramePr>
          <p:cNvPr id="24" name="Table 23"/>
          <p:cNvGraphicFramePr>
            <a:graphicFrameLocks noGrp="1"/>
          </p:cNvGraphicFramePr>
          <p:nvPr/>
        </p:nvGraphicFramePr>
        <p:xfrm>
          <a:off x="658368" y="3429000"/>
          <a:ext cx="10881360" cy="1417320"/>
        </p:xfrm>
        <a:graphic>
          <a:graphicData uri="http://schemas.openxmlformats.org/drawingml/2006/table">
            <a:tbl>
              <a:tblPr>
                <a:tableStyleId>{5C22544A-7EE6-4342-B048-85BDC9FD1C3A}</a:tableStyleId>
              </a:tblPr>
              <a:tblGrid>
                <a:gridCol w="2651760"/>
                <a:gridCol w="2057400"/>
                <a:gridCol w="2057400"/>
                <a:gridCol w="2057400"/>
                <a:gridCol w="2057400"/>
              </a:tblGrid>
              <a:tr h="354330">
                <a:tc>
                  <a:txBody>
                    <a:bodyPr/>
                    <a:lstStyle/>
                    <a:p>
                      <a:pPr algn="l"/>
                      <a:r>
                        <a:rPr sz="1350" b="1">
                          <a:solidFill>
                            <a:srgbClr val="FFFFFF"/>
                          </a:solidFill>
                          <a:latin typeface="Calibri"/>
                        </a:rPr>
                        <a:t>Threat</a:t>
                      </a:r>
                    </a:p>
                  </a:txBody>
                  <a:tcPr anchor="ctr" marT="25400" marB="25400">
                    <a:solidFill>
                      <a:srgbClr val="0F3D2E"/>
                    </a:solidFill>
                  </a:tcPr>
                </a:tc>
                <a:tc>
                  <a:txBody>
                    <a:bodyPr/>
                    <a:lstStyle/>
                    <a:p>
                      <a:pPr algn="ctr"/>
                      <a:r>
                        <a:rPr sz="1350" b="1">
                          <a:solidFill>
                            <a:srgbClr val="FFFFFF"/>
                          </a:solidFill>
                          <a:latin typeface="Calibri"/>
                        </a:rPr>
                        <a:t>F2</a:t>
                      </a:r>
                    </a:p>
                  </a:txBody>
                  <a:tcPr anchor="ctr" marT="25400" marB="25400">
                    <a:solidFill>
                      <a:srgbClr val="0F3D2E"/>
                    </a:solidFill>
                  </a:tcPr>
                </a:tc>
                <a:tc>
                  <a:txBody>
                    <a:bodyPr/>
                    <a:lstStyle/>
                    <a:p>
                      <a:pPr algn="ctr"/>
                      <a:r>
                        <a:rPr sz="1350" b="1">
                          <a:solidFill>
                            <a:srgbClr val="FFFFFF"/>
                          </a:solidFill>
                          <a:latin typeface="Calibri"/>
                        </a:rPr>
                        <a:t>ROC-AUC</a:t>
                      </a:r>
                    </a:p>
                  </a:txBody>
                  <a:tcPr anchor="ctr" marT="25400" marB="25400">
                    <a:solidFill>
                      <a:srgbClr val="0F3D2E"/>
                    </a:solidFill>
                  </a:tcPr>
                </a:tc>
                <a:tc>
                  <a:txBody>
                    <a:bodyPr/>
                    <a:lstStyle/>
                    <a:p>
                      <a:pPr algn="ctr"/>
                      <a:r>
                        <a:rPr sz="1350" b="1">
                          <a:solidFill>
                            <a:srgbClr val="FFFFFF"/>
                          </a:solidFill>
                          <a:latin typeface="Calibri"/>
                        </a:rPr>
                        <a:t>Precision</a:t>
                      </a:r>
                    </a:p>
                  </a:txBody>
                  <a:tcPr anchor="ctr" marT="25400" marB="25400">
                    <a:solidFill>
                      <a:srgbClr val="0F3D2E"/>
                    </a:solidFill>
                  </a:tcPr>
                </a:tc>
                <a:tc>
                  <a:txBody>
                    <a:bodyPr/>
                    <a:lstStyle/>
                    <a:p>
                      <a:pPr algn="ctr"/>
                      <a:r>
                        <a:rPr sz="1350" b="1">
                          <a:solidFill>
                            <a:srgbClr val="FFFFFF"/>
                          </a:solidFill>
                          <a:latin typeface="Calibri"/>
                        </a:rPr>
                        <a:t>Recall</a:t>
                      </a:r>
                    </a:p>
                  </a:txBody>
                  <a:tcPr anchor="ctr" marT="25400" marB="25400">
                    <a:solidFill>
                      <a:srgbClr val="0F3D2E"/>
                    </a:solidFill>
                  </a:tcPr>
                </a:tc>
              </a:tr>
              <a:tr h="354330">
                <a:tc>
                  <a:txBody>
                    <a:bodyPr/>
                    <a:lstStyle/>
                    <a:p>
                      <a:pPr algn="l"/>
                      <a:r>
                        <a:rPr sz="1350" b="1">
                          <a:solidFill>
                            <a:srgbClr val="1F2A37"/>
                          </a:solidFill>
                          <a:latin typeface="Calibri"/>
                        </a:rPr>
                        <a:t>Fire</a:t>
                      </a:r>
                    </a:p>
                  </a:txBody>
                  <a:tcPr anchor="ctr" marT="25400" marB="25400">
                    <a:solidFill>
                      <a:srgbClr val="FFFFFF"/>
                    </a:solidFill>
                  </a:tcPr>
                </a:tc>
                <a:tc>
                  <a:txBody>
                    <a:bodyPr/>
                    <a:lstStyle/>
                    <a:p>
                      <a:pPr algn="ctr"/>
                      <a:r>
                        <a:rPr sz="1350">
                          <a:solidFill>
                            <a:srgbClr val="1F2A37"/>
                          </a:solidFill>
                          <a:latin typeface="Calibri"/>
                        </a:rPr>
                        <a:t>0.942</a:t>
                      </a:r>
                    </a:p>
                  </a:txBody>
                  <a:tcPr anchor="ctr" marT="25400" marB="25400">
                    <a:solidFill>
                      <a:srgbClr val="FFFFFF"/>
                    </a:solidFill>
                  </a:tcPr>
                </a:tc>
                <a:tc>
                  <a:txBody>
                    <a:bodyPr/>
                    <a:lstStyle/>
                    <a:p>
                      <a:pPr algn="ctr"/>
                      <a:r>
                        <a:rPr sz="1350">
                          <a:solidFill>
                            <a:srgbClr val="1F2A37"/>
                          </a:solidFill>
                          <a:latin typeface="Calibri"/>
                        </a:rPr>
                        <a:t>0.977</a:t>
                      </a:r>
                    </a:p>
                  </a:txBody>
                  <a:tcPr anchor="ctr" marT="25400" marB="25400">
                    <a:solidFill>
                      <a:srgbClr val="FFFFFF"/>
                    </a:solidFill>
                  </a:tcPr>
                </a:tc>
                <a:tc>
                  <a:txBody>
                    <a:bodyPr/>
                    <a:lstStyle/>
                    <a:p>
                      <a:pPr algn="ctr"/>
                      <a:r>
                        <a:rPr sz="1350">
                          <a:solidFill>
                            <a:srgbClr val="1F2A37"/>
                          </a:solidFill>
                          <a:latin typeface="Calibri"/>
                        </a:rPr>
                        <a:t>0.885</a:t>
                      </a:r>
                    </a:p>
                  </a:txBody>
                  <a:tcPr anchor="ctr" marT="25400" marB="25400">
                    <a:solidFill>
                      <a:srgbClr val="FFFFFF"/>
                    </a:solidFill>
                  </a:tcPr>
                </a:tc>
                <a:tc>
                  <a:txBody>
                    <a:bodyPr/>
                    <a:lstStyle/>
                    <a:p>
                      <a:pPr algn="ctr"/>
                      <a:r>
                        <a:rPr sz="1350">
                          <a:solidFill>
                            <a:srgbClr val="1F2A37"/>
                          </a:solidFill>
                          <a:latin typeface="Calibri"/>
                        </a:rPr>
                        <a:t>0.957</a:t>
                      </a:r>
                    </a:p>
                  </a:txBody>
                  <a:tcPr anchor="ctr" marT="25400" marB="25400">
                    <a:solidFill>
                      <a:srgbClr val="FFFFFF"/>
                    </a:solidFill>
                  </a:tcPr>
                </a:tc>
              </a:tr>
              <a:tr h="354330">
                <a:tc>
                  <a:txBody>
                    <a:bodyPr/>
                    <a:lstStyle/>
                    <a:p>
                      <a:pPr algn="l"/>
                      <a:r>
                        <a:rPr sz="1350" b="1">
                          <a:solidFill>
                            <a:srgbClr val="1F2A37"/>
                          </a:solidFill>
                          <a:latin typeface="Calibri"/>
                        </a:rPr>
                        <a:t>Drought</a:t>
                      </a:r>
                    </a:p>
                  </a:txBody>
                  <a:tcPr anchor="ctr" marT="25400" marB="25400">
                    <a:solidFill>
                      <a:srgbClr val="F2F6F4"/>
                    </a:solidFill>
                  </a:tcPr>
                </a:tc>
                <a:tc>
                  <a:txBody>
                    <a:bodyPr/>
                    <a:lstStyle/>
                    <a:p>
                      <a:pPr algn="ctr"/>
                      <a:r>
                        <a:rPr sz="1350">
                          <a:solidFill>
                            <a:srgbClr val="1F2A37"/>
                          </a:solidFill>
                          <a:latin typeface="Calibri"/>
                        </a:rPr>
                        <a:t>0.885</a:t>
                      </a:r>
                    </a:p>
                  </a:txBody>
                  <a:tcPr anchor="ctr" marT="25400" marB="25400">
                    <a:solidFill>
                      <a:srgbClr val="F2F6F4"/>
                    </a:solidFill>
                  </a:tcPr>
                </a:tc>
                <a:tc>
                  <a:txBody>
                    <a:bodyPr/>
                    <a:lstStyle/>
                    <a:p>
                      <a:pPr algn="ctr"/>
                      <a:r>
                        <a:rPr sz="1350">
                          <a:solidFill>
                            <a:srgbClr val="1F2A37"/>
                          </a:solidFill>
                          <a:latin typeface="Calibri"/>
                        </a:rPr>
                        <a:t>0.967</a:t>
                      </a:r>
                    </a:p>
                  </a:txBody>
                  <a:tcPr anchor="ctr" marT="25400" marB="25400">
                    <a:solidFill>
                      <a:srgbClr val="F2F6F4"/>
                    </a:solidFill>
                  </a:tcPr>
                </a:tc>
                <a:tc>
                  <a:txBody>
                    <a:bodyPr/>
                    <a:lstStyle/>
                    <a:p>
                      <a:pPr algn="ctr"/>
                      <a:r>
                        <a:rPr sz="1350">
                          <a:solidFill>
                            <a:srgbClr val="1F2A37"/>
                          </a:solidFill>
                          <a:latin typeface="Calibri"/>
                        </a:rPr>
                        <a:t>0.715</a:t>
                      </a:r>
                    </a:p>
                  </a:txBody>
                  <a:tcPr anchor="ctr" marT="25400" marB="25400">
                    <a:solidFill>
                      <a:srgbClr val="F2F6F4"/>
                    </a:solidFill>
                  </a:tcPr>
                </a:tc>
                <a:tc>
                  <a:txBody>
                    <a:bodyPr/>
                    <a:lstStyle/>
                    <a:p>
                      <a:pPr algn="ctr"/>
                      <a:r>
                        <a:rPr sz="1350">
                          <a:solidFill>
                            <a:srgbClr val="1F2A37"/>
                          </a:solidFill>
                          <a:latin typeface="Calibri"/>
                        </a:rPr>
                        <a:t>0.941</a:t>
                      </a:r>
                    </a:p>
                  </a:txBody>
                  <a:tcPr anchor="ctr" marT="25400" marB="25400">
                    <a:solidFill>
                      <a:srgbClr val="F2F6F4"/>
                    </a:solidFill>
                  </a:tcPr>
                </a:tc>
              </a:tr>
              <a:tr h="354330">
                <a:tc>
                  <a:txBody>
                    <a:bodyPr/>
                    <a:lstStyle/>
                    <a:p>
                      <a:pPr algn="l"/>
                      <a:r>
                        <a:rPr sz="1350" b="1">
                          <a:solidFill>
                            <a:srgbClr val="1F2A37"/>
                          </a:solidFill>
                          <a:latin typeface="Calibri"/>
                        </a:rPr>
                        <a:t>Vegetation</a:t>
                      </a:r>
                    </a:p>
                  </a:txBody>
                  <a:tcPr anchor="ctr" marT="25400" marB="25400">
                    <a:solidFill>
                      <a:srgbClr val="FFFFFF"/>
                    </a:solidFill>
                  </a:tcPr>
                </a:tc>
                <a:tc>
                  <a:txBody>
                    <a:bodyPr/>
                    <a:lstStyle/>
                    <a:p>
                      <a:pPr algn="ctr"/>
                      <a:r>
                        <a:rPr sz="1350">
                          <a:solidFill>
                            <a:srgbClr val="1F2A37"/>
                          </a:solidFill>
                          <a:latin typeface="Calibri"/>
                        </a:rPr>
                        <a:t>0.746</a:t>
                      </a:r>
                    </a:p>
                  </a:txBody>
                  <a:tcPr anchor="ctr" marT="25400" marB="25400">
                    <a:solidFill>
                      <a:srgbClr val="FFFFFF"/>
                    </a:solidFill>
                  </a:tcPr>
                </a:tc>
                <a:tc>
                  <a:txBody>
                    <a:bodyPr/>
                    <a:lstStyle/>
                    <a:p>
                      <a:pPr algn="ctr"/>
                      <a:r>
                        <a:rPr sz="1350">
                          <a:solidFill>
                            <a:srgbClr val="1F2A37"/>
                          </a:solidFill>
                          <a:latin typeface="Calibri"/>
                        </a:rPr>
                        <a:t>0.774</a:t>
                      </a:r>
                    </a:p>
                  </a:txBody>
                  <a:tcPr anchor="ctr" marT="25400" marB="25400">
                    <a:solidFill>
                      <a:srgbClr val="FFFFFF"/>
                    </a:solidFill>
                  </a:tcPr>
                </a:tc>
                <a:tc>
                  <a:txBody>
                    <a:bodyPr/>
                    <a:lstStyle/>
                    <a:p>
                      <a:pPr algn="ctr"/>
                      <a:r>
                        <a:rPr sz="1350">
                          <a:solidFill>
                            <a:srgbClr val="1F2A37"/>
                          </a:solidFill>
                          <a:latin typeface="Calibri"/>
                        </a:rPr>
                        <a:t>0.617</a:t>
                      </a:r>
                    </a:p>
                  </a:txBody>
                  <a:tcPr anchor="ctr" marT="25400" marB="25400">
                    <a:solidFill>
                      <a:srgbClr val="FFFFFF"/>
                    </a:solidFill>
                  </a:tcPr>
                </a:tc>
                <a:tc>
                  <a:txBody>
                    <a:bodyPr/>
                    <a:lstStyle/>
                    <a:p>
                      <a:pPr algn="ctr"/>
                      <a:r>
                        <a:rPr sz="1350">
                          <a:solidFill>
                            <a:srgbClr val="1F2A37"/>
                          </a:solidFill>
                          <a:latin typeface="Calibri"/>
                        </a:rPr>
                        <a:t>0.786</a:t>
                      </a:r>
                    </a:p>
                  </a:txBody>
                  <a:tcPr anchor="ctr" marT="25400" marB="25400">
                    <a:solidFill>
                      <a:srgbClr val="FFFFFF"/>
                    </a:solidFill>
                  </a:tcPr>
                </a:tc>
              </a:tr>
            </a:tbl>
          </a:graphicData>
        </a:graphic>
      </p:graphicFrame>
      <p:sp>
        <p:nvSpPr>
          <p:cNvPr id="25" name="TextBox 24"/>
          <p:cNvSpPr txBox="1"/>
          <p:nvPr/>
        </p:nvSpPr>
        <p:spPr>
          <a:xfrm>
            <a:off x="658368" y="5074920"/>
            <a:ext cx="10881360" cy="1280160"/>
          </a:xfrm>
          <a:prstGeom prst="rect">
            <a:avLst/>
          </a:prstGeom>
          <a:noFill/>
        </p:spPr>
        <p:txBody>
          <a:bodyPr wrap="square" anchor="t">
            <a:spAutoFit/>
          </a:bodyPr>
          <a:lstStyle/>
          <a:p>
            <a:pPr algn="l">
              <a:lnSpc>
                <a:spcPct val="102000"/>
              </a:lnSpc>
              <a:spcBef>
                <a:spcPts val="0"/>
              </a:spcBef>
              <a:spcAft>
                <a:spcPts val="800"/>
              </a:spcAft>
            </a:pPr>
            <a:r>
              <a:rPr sz="1450" b="0" i="0">
                <a:solidFill>
                  <a:srgbClr val="1F2A37"/>
                </a:solidFill>
                <a:latin typeface="Calibri"/>
              </a:rPr>
              <a:t>F2 weights recall, since missing a real threat costs more than a false alarm. Fire and drought are strong; vegetation is moderate.</a:t>
            </a:r>
          </a:p>
          <a:p>
            <a:pPr algn="l">
              <a:lnSpc>
                <a:spcPct val="102000"/>
              </a:lnSpc>
              <a:spcBef>
                <a:spcPts val="0"/>
              </a:spcBef>
              <a:spcAft>
                <a:spcPts val="0"/>
              </a:spcAft>
            </a:pPr>
            <a:r>
              <a:rPr sz="1450" b="1" i="0">
                <a:solidFill>
                  <a:srgbClr val="0F3D2E"/>
                </a:solidFill>
                <a:latin typeface="Calibri"/>
              </a:rPr>
              <a:t>Recommender:  honours budget and capacity in every test, scales with budget, solves in under 60 ms.  All planned components are complete.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731520"/>
          </a:xfrm>
          <a:prstGeom prst="rect">
            <a:avLst/>
          </a:prstGeom>
          <a:noFill/>
        </p:spPr>
        <p:txBody>
          <a:bodyPr wrap="square" anchor="t">
            <a:spAutoFit/>
          </a:bodyPr>
          <a:lstStyle/>
          <a:p>
            <a:pPr algn="l">
              <a:spcBef>
                <a:spcPts val="0"/>
              </a:spcBef>
              <a:spcAft>
                <a:spcPts val="0"/>
              </a:spcAft>
            </a:pPr>
            <a:r>
              <a:rPr sz="2900" b="1" i="0">
                <a:solidFill>
                  <a:srgbClr val="0F3D2E"/>
                </a:solidFill>
                <a:latin typeface="Calibri"/>
              </a:rPr>
              <a:t>Limitations to discuss</a:t>
            </a:r>
          </a:p>
        </p:txBody>
      </p:sp>
      <p:sp>
        <p:nvSpPr>
          <p:cNvPr id="4" name="Rectangle 3"/>
          <p:cNvSpPr/>
          <p:nvPr/>
        </p:nvSpPr>
        <p:spPr>
          <a:xfrm>
            <a:off x="594360" y="1024128"/>
            <a:ext cx="777240" cy="444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565392"/>
            <a:ext cx="12191695" cy="25400"/>
          </a:xfrm>
          <a:prstGeom prst="rect">
            <a:avLst/>
          </a:prstGeom>
          <a:solidFill>
            <a:srgbClr val="F2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7315200" cy="320040"/>
          </a:xfrm>
          <a:prstGeom prst="rect">
            <a:avLst/>
          </a:prstGeom>
          <a:noFill/>
        </p:spPr>
        <p:txBody>
          <a:bodyPr wrap="square" anchor="t">
            <a:spAutoFit/>
          </a:bodyPr>
          <a:lstStyle/>
          <a:p>
            <a:pPr algn="l">
              <a:spcBef>
                <a:spcPts val="0"/>
              </a:spcBef>
              <a:spcAft>
                <a:spcPts val="0"/>
              </a:spcAft>
            </a:pPr>
            <a:r>
              <a:rPr sz="1000" b="0" i="0">
                <a:solidFill>
                  <a:srgbClr val="A9C6B8"/>
                </a:solidFill>
                <a:latin typeface="Calibri"/>
              </a:rPr>
              <a:t>ConserveAI  ·  Capstone progress update</a:t>
            </a:r>
          </a:p>
        </p:txBody>
      </p:sp>
      <p:sp>
        <p:nvSpPr>
          <p:cNvPr id="7" name="TextBox 6"/>
          <p:cNvSpPr txBox="1"/>
          <p:nvPr/>
        </p:nvSpPr>
        <p:spPr>
          <a:xfrm>
            <a:off x="10515600" y="6400800"/>
            <a:ext cx="1188720" cy="320040"/>
          </a:xfrm>
          <a:prstGeom prst="rect">
            <a:avLst/>
          </a:prstGeom>
          <a:noFill/>
        </p:spPr>
        <p:txBody>
          <a:bodyPr wrap="square" anchor="t">
            <a:spAutoFit/>
          </a:bodyPr>
          <a:lstStyle/>
          <a:p>
            <a:pPr algn="r">
              <a:spcBef>
                <a:spcPts val="0"/>
              </a:spcBef>
              <a:spcAft>
                <a:spcPts val="0"/>
              </a:spcAft>
            </a:pPr>
            <a:r>
              <a:rPr sz="1000" b="0" i="0">
                <a:solidFill>
                  <a:srgbClr val="A9C6B8"/>
                </a:solidFill>
                <a:latin typeface="Calibri"/>
              </a:rPr>
              <a:t>9 / 9</a:t>
            </a:r>
          </a:p>
        </p:txBody>
      </p:sp>
      <p:sp>
        <p:nvSpPr>
          <p:cNvPr id="8" name="Oval 7"/>
          <p:cNvSpPr/>
          <p:nvPr/>
        </p:nvSpPr>
        <p:spPr>
          <a:xfrm>
            <a:off x="640080" y="147218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417320"/>
            <a:ext cx="10515600" cy="1097280"/>
          </a:xfrm>
          <a:prstGeom prst="rect">
            <a:avLst/>
          </a:prstGeom>
          <a:noFill/>
        </p:spPr>
        <p:txBody>
          <a:bodyPr wrap="square" anchor="t">
            <a:spAutoFit/>
          </a:bodyPr>
          <a:lstStyle/>
          <a:p>
            <a:pPr algn="l">
              <a:spcBef>
                <a:spcPts val="0"/>
              </a:spcBef>
              <a:spcAft>
                <a:spcPts val="200"/>
              </a:spcAft>
            </a:pPr>
            <a:r>
              <a:rPr sz="1850" b="1" i="0">
                <a:solidFill>
                  <a:srgbClr val="0F3D2E"/>
                </a:solidFill>
                <a:latin typeface="Calibri"/>
              </a:rPr>
              <a:t>Label leakage — handled, with one honest caveat.</a:t>
            </a:r>
          </a:p>
          <a:p>
            <a:pPr algn="l">
              <a:lnSpc>
                <a:spcPct val="102000"/>
              </a:lnSpc>
              <a:spcBef>
                <a:spcPts val="0"/>
              </a:spcBef>
              <a:spcAft>
                <a:spcPts val="0"/>
              </a:spcAft>
            </a:pPr>
            <a:r>
              <a:rPr sz="1450" b="0" i="0">
                <a:solidFill>
                  <a:srgbClr val="1F2A37"/>
                </a:solidFill>
                <a:latin typeface="Calibri"/>
              </a:rPr>
              <a:t>For drought and vegetation, the labels and the model's inputs both come from the same climate data, so the model could in effect mark its own homework. We reduce this with forward-looking labels, backward-looking inputs, a train/test split by date, and separate thresholds for the labels and the scoring. What remains: unlike fire, which is checked against independent MODIS satellite detections, these two have no fully independent ground truth, so their scores are a consistency check rather than full proof.</a:t>
            </a:r>
          </a:p>
        </p:txBody>
      </p:sp>
      <p:sp>
        <p:nvSpPr>
          <p:cNvPr id="10" name="Oval 9"/>
          <p:cNvSpPr/>
          <p:nvPr/>
        </p:nvSpPr>
        <p:spPr>
          <a:xfrm>
            <a:off x="640080" y="2980944"/>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926080"/>
            <a:ext cx="10515600" cy="1097280"/>
          </a:xfrm>
          <a:prstGeom prst="rect">
            <a:avLst/>
          </a:prstGeom>
          <a:noFill/>
        </p:spPr>
        <p:txBody>
          <a:bodyPr wrap="square" anchor="t">
            <a:spAutoFit/>
          </a:bodyPr>
          <a:lstStyle/>
          <a:p>
            <a:pPr algn="l">
              <a:spcBef>
                <a:spcPts val="0"/>
              </a:spcBef>
              <a:spcAft>
                <a:spcPts val="200"/>
              </a:spcAft>
            </a:pPr>
            <a:r>
              <a:rPr sz="1850" b="1" i="0">
                <a:solidFill>
                  <a:srgbClr val="0F3D2E"/>
                </a:solidFill>
                <a:latin typeface="Calibri"/>
              </a:rPr>
              <a:t>Sensor-bound threat scope.</a:t>
            </a:r>
          </a:p>
          <a:p>
            <a:pPr algn="l">
              <a:lnSpc>
                <a:spcPct val="102000"/>
              </a:lnSpc>
              <a:spcBef>
                <a:spcPts val="0"/>
              </a:spcBef>
              <a:spcAft>
                <a:spcPts val="0"/>
              </a:spcAft>
            </a:pPr>
            <a:r>
              <a:rPr sz="1450" b="0" i="0">
                <a:solidFill>
                  <a:srgbClr val="1F2A37"/>
                </a:solidFill>
                <a:latin typeface="Calibri"/>
              </a:rPr>
              <a:t>Poaching and grazing encroachment, the threats that dominate in practice, are not remotely observable and fall outside the model.</a:t>
            </a:r>
          </a:p>
        </p:txBody>
      </p:sp>
      <p:sp>
        <p:nvSpPr>
          <p:cNvPr id="12" name="Oval 11"/>
          <p:cNvSpPr/>
          <p:nvPr/>
        </p:nvSpPr>
        <p:spPr>
          <a:xfrm>
            <a:off x="640080" y="4489703"/>
            <a:ext cx="137160" cy="137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434840"/>
            <a:ext cx="10515600" cy="1097280"/>
          </a:xfrm>
          <a:prstGeom prst="rect">
            <a:avLst/>
          </a:prstGeom>
          <a:noFill/>
        </p:spPr>
        <p:txBody>
          <a:bodyPr wrap="square" anchor="t">
            <a:spAutoFit/>
          </a:bodyPr>
          <a:lstStyle/>
          <a:p>
            <a:pPr algn="l">
              <a:spcBef>
                <a:spcPts val="0"/>
              </a:spcBef>
              <a:spcAft>
                <a:spcPts val="200"/>
              </a:spcAft>
            </a:pPr>
            <a:r>
              <a:rPr sz="1850" b="1" i="0">
                <a:solidFill>
                  <a:srgbClr val="0F3D2E"/>
                </a:solidFill>
                <a:latin typeface="Calibri"/>
              </a:rPr>
              <a:t>Unvalidated parameters.</a:t>
            </a:r>
          </a:p>
          <a:p>
            <a:pPr algn="l">
              <a:lnSpc>
                <a:spcPct val="102000"/>
              </a:lnSpc>
              <a:spcBef>
                <a:spcPts val="0"/>
              </a:spcBef>
              <a:spcAft>
                <a:spcPts val="0"/>
              </a:spcAft>
            </a:pPr>
            <a:r>
              <a:rPr sz="1450" b="0" i="0">
                <a:solidFill>
                  <a:srgbClr val="1F2A37"/>
                </a:solidFill>
                <a:latin typeface="Calibri"/>
              </a:rPr>
              <a:t>Intervention costs and effectiveness come from the literature, not measured in these parks.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